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Inter" panose="020B0604020202020204" charset="0"/>
      <p:regular r:id="rId19"/>
    </p:embeddedFont>
    <p:embeddedFont>
      <p:font typeface="Inter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nushree S" userId="fb455d22c6e6393a" providerId="LiveId" clId="{7CA1C202-F368-4D7A-9CCF-34E6466784D7}"/>
    <pc:docChg chg="modSld sldOrd">
      <pc:chgData name="Thanushree S" userId="fb455d22c6e6393a" providerId="LiveId" clId="{7CA1C202-F368-4D7A-9CCF-34E6466784D7}" dt="2026-10-21T10:23:03.158" v="2" actId="15"/>
      <pc:docMkLst>
        <pc:docMk/>
      </pc:docMkLst>
      <pc:sldChg chg="modSp mod">
        <pc:chgData name="Thanushree S" userId="fb455d22c6e6393a" providerId="LiveId" clId="{7CA1C202-F368-4D7A-9CCF-34E6466784D7}" dt="2026-10-21T10:23:03.158" v="2" actId="15"/>
        <pc:sldMkLst>
          <pc:docMk/>
          <pc:sldMk cId="0" sldId="256"/>
        </pc:sldMkLst>
        <pc:spChg chg="mod">
          <ac:chgData name="Thanushree S" userId="fb455d22c6e6393a" providerId="LiveId" clId="{7CA1C202-F368-4D7A-9CCF-34E6466784D7}" dt="2026-10-21T10:23:03.158" v="2" actId="15"/>
          <ac:spMkLst>
            <pc:docMk/>
            <pc:sldMk cId="0" sldId="256"/>
            <ac:spMk id="10" creationId="{00000000-0000-0000-0000-000000000000}"/>
          </ac:spMkLst>
        </pc:spChg>
      </pc:sldChg>
      <pc:sldChg chg="ord">
        <pc:chgData name="Thanushree S" userId="fb455d22c6e6393a" providerId="LiveId" clId="{7CA1C202-F368-4D7A-9CCF-34E6466784D7}" dt="2026-10-19T11:12:54.269" v="1"/>
        <pc:sldMkLst>
          <pc:docMk/>
          <pc:sldMk cId="0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57" y="0"/>
            <a:ext cx="18287543" cy="10287000"/>
            <a:chOff x="0" y="0"/>
            <a:chExt cx="2438339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92210" y="1948605"/>
            <a:ext cx="16303114" cy="236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ctr">
              <a:lnSpc>
                <a:spcPts val="6240"/>
              </a:lnSpc>
            </a:pPr>
            <a:r>
              <a:rPr lang="en-US" sz="5000" b="1" spc="-151" dirty="0">
                <a:solidFill>
                  <a:srgbClr val="00008B"/>
                </a:solidFill>
                <a:latin typeface="Inter Bold"/>
                <a:ea typeface="Inter Bold"/>
                <a:cs typeface="Inter Bold"/>
                <a:sym typeface="Inter Bold"/>
              </a:rPr>
              <a:t>Scalable Multi-Node ASCON-Secured IoT Communication: A Gateway-Based Architecture with Dynamic Key Exchange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5253" y="9500683"/>
            <a:ext cx="17217495" cy="37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2"/>
              </a:lnSpc>
            </a:pPr>
            <a:r>
              <a:rPr lang="en-US" sz="2000" spc="-4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Slide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00478" y="4863096"/>
            <a:ext cx="4486577" cy="3409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2499" b="1" u="sng" spc="-49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TEAM - 09</a:t>
            </a:r>
          </a:p>
          <a:p>
            <a:pPr algn="ctr">
              <a:lnSpc>
                <a:spcPts val="4999"/>
              </a:lnSpc>
            </a:pPr>
            <a:endParaRPr lang="en-US" sz="2499" b="1" u="sng" spc="-49">
              <a:solidFill>
                <a:srgbClr val="272525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ctr">
              <a:lnSpc>
                <a:spcPts val="4399"/>
              </a:lnSpc>
            </a:pPr>
            <a:r>
              <a:rPr lang="en-US" sz="2199" b="1" spc="-4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Akchara - cb.ai.u4qts25004</a:t>
            </a:r>
          </a:p>
          <a:p>
            <a:pPr algn="ctr">
              <a:lnSpc>
                <a:spcPts val="4399"/>
              </a:lnSpc>
            </a:pPr>
            <a:r>
              <a:rPr lang="en-US" sz="2199" b="1" spc="-4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Archand - cb.ai.u4qts25007</a:t>
            </a:r>
          </a:p>
          <a:p>
            <a:pPr algn="ctr">
              <a:lnSpc>
                <a:spcPts val="4399"/>
              </a:lnSpc>
            </a:pPr>
            <a:r>
              <a:rPr lang="en-US" sz="2199" b="1" spc="-4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Karthik - cb.ai.u4qta25026</a:t>
            </a:r>
          </a:p>
          <a:p>
            <a:pPr algn="ctr">
              <a:lnSpc>
                <a:spcPts val="4399"/>
              </a:lnSpc>
            </a:pPr>
            <a:r>
              <a:rPr lang="en-US" sz="2199" b="1" spc="-4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Thanushree - cb.ai.u4qts25044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-3184432">
            <a:off x="11349970" y="3171883"/>
            <a:ext cx="13875146" cy="9655921"/>
            <a:chOff x="0" y="0"/>
            <a:chExt cx="3654360" cy="25431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4360" cy="2543123"/>
            </a:xfrm>
            <a:custGeom>
              <a:avLst/>
              <a:gdLst/>
              <a:ahLst/>
              <a:cxnLst/>
              <a:rect l="l" t="t" r="r" b="b"/>
              <a:pathLst>
                <a:path w="3654360" h="2543123">
                  <a:moveTo>
                    <a:pt x="0" y="0"/>
                  </a:moveTo>
                  <a:lnTo>
                    <a:pt x="3654360" y="0"/>
                  </a:lnTo>
                  <a:lnTo>
                    <a:pt x="3654360" y="2543123"/>
                  </a:lnTo>
                  <a:lnTo>
                    <a:pt x="0" y="2543123"/>
                  </a:lnTo>
                  <a:close/>
                </a:path>
              </a:pathLst>
            </a:custGeom>
            <a:solidFill>
              <a:srgbClr val="2E509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3654360" cy="2609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56186" y="566661"/>
            <a:ext cx="16091068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000" b="1" spc="-151">
                <a:solidFill>
                  <a:srgbClr val="00008B"/>
                </a:solidFill>
                <a:latin typeface="Inter Bold"/>
                <a:ea typeface="Inter Bold"/>
                <a:cs typeface="Inter Bold"/>
                <a:sym typeface="Inter Bold"/>
              </a:rPr>
              <a:t>Why IoT Security Matters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372787"/>
            <a:ext cx="8655329" cy="610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IoT market projected to reach USD 1.1 trillion by 2025 (McKinsey Global Institute, 2024)</a:t>
            </a:r>
          </a:p>
          <a:p>
            <a:pPr algn="l">
              <a:lnSpc>
                <a:spcPts val="3471"/>
              </a:lnSpc>
            </a:pPr>
            <a:endParaRPr lang="en-US" sz="2175" spc="-43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47% of Latin American companies adopted IoT by end 2023 (996M devices in operation)</a:t>
            </a:r>
          </a:p>
          <a:p>
            <a:pPr algn="l">
              <a:lnSpc>
                <a:spcPts val="3471"/>
              </a:lnSpc>
            </a:pPr>
            <a:endParaRPr lang="en-US" sz="2175" spc="-43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Critical vulnerability: Resource constraints make traditional encryption infeasible</a:t>
            </a:r>
          </a:p>
          <a:p>
            <a:pPr algn="l">
              <a:lnSpc>
                <a:spcPts val="3471"/>
              </a:lnSpc>
            </a:pPr>
            <a:endParaRPr lang="en-US" sz="2175" spc="-43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 threat: Mirai botnet (2016) weaponized 100K IoT devices → 1.2 Tbps DDoS attack</a:t>
            </a:r>
          </a:p>
          <a:p>
            <a:pPr algn="l">
              <a:lnSpc>
                <a:spcPts val="3471"/>
              </a:lnSpc>
            </a:pPr>
            <a:endParaRPr lang="en-US" sz="2175" spc="-43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Solution paradigm shift: Lightweight cryptography (ASCON) designed for constrained devices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5253" y="9500683"/>
            <a:ext cx="17217495" cy="37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2"/>
              </a:lnSpc>
            </a:pPr>
            <a:r>
              <a:rPr lang="en-US" sz="2000" spc="-4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122762" y="511809"/>
            <a:ext cx="13403466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000" b="1" spc="-151">
                <a:solidFill>
                  <a:srgbClr val="00008B"/>
                </a:solidFill>
                <a:latin typeface="Inter Bold"/>
                <a:ea typeface="Inter Bold"/>
                <a:cs typeface="Inter Bold"/>
                <a:sym typeface="Inter Bold"/>
              </a:rPr>
              <a:t>ASCON as the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22762" y="2274018"/>
            <a:ext cx="9472742" cy="5662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ASCON: Winner of NIST Lightweight Cryptography Competition (2019)</a:t>
            </a:r>
          </a:p>
          <a:p>
            <a:pPr algn="l">
              <a:lnSpc>
                <a:spcPts val="3471"/>
              </a:lnSpc>
            </a:pPr>
            <a:endParaRPr lang="en-US" sz="2175" spc="-43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Authenticated Encryption with Associated Data (AEAD) - confidentiality + integrity</a:t>
            </a:r>
          </a:p>
          <a:p>
            <a:pPr algn="l">
              <a:lnSpc>
                <a:spcPts val="3471"/>
              </a:lnSpc>
            </a:pPr>
            <a:endParaRPr lang="en-US" sz="2175" spc="-43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Low computational overhead: Hardware implementations on FPGA/ASIC prove efficiency</a:t>
            </a:r>
          </a:p>
          <a:p>
            <a:pPr algn="l">
              <a:lnSpc>
                <a:spcPts val="3471"/>
              </a:lnSpc>
            </a:pPr>
            <a:endParaRPr lang="en-US" sz="2175" spc="-43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Used in: Automotive CAN systems, IoV (Internet of Vehicles), industrial IoT</a:t>
            </a:r>
          </a:p>
          <a:p>
            <a:pPr algn="l">
              <a:lnSpc>
                <a:spcPts val="3471"/>
              </a:lnSpc>
            </a:pPr>
            <a:endParaRPr lang="en-US" sz="2175" spc="-43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Gap in literature: Current implementations (including published paper) have critical oversights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5253" y="9535473"/>
            <a:ext cx="17217495" cy="37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2"/>
              </a:lnSpc>
            </a:pPr>
            <a:r>
              <a:rPr lang="en-US" sz="2000" spc="-4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Slide 3</a:t>
            </a:r>
          </a:p>
        </p:txBody>
      </p:sp>
      <p:grpSp>
        <p:nvGrpSpPr>
          <p:cNvPr id="9" name="Group 9"/>
          <p:cNvGrpSpPr/>
          <p:nvPr/>
        </p:nvGrpSpPr>
        <p:grpSpPr>
          <a:xfrm rot="-5400000">
            <a:off x="-5052988" y="784852"/>
            <a:ext cx="13875146" cy="9655921"/>
            <a:chOff x="0" y="0"/>
            <a:chExt cx="3654360" cy="254312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54360" cy="2543123"/>
            </a:xfrm>
            <a:custGeom>
              <a:avLst/>
              <a:gdLst/>
              <a:ahLst/>
              <a:cxnLst/>
              <a:rect l="l" t="t" r="r" b="b"/>
              <a:pathLst>
                <a:path w="3654360" h="2543123">
                  <a:moveTo>
                    <a:pt x="0" y="0"/>
                  </a:moveTo>
                  <a:lnTo>
                    <a:pt x="3654360" y="0"/>
                  </a:lnTo>
                  <a:lnTo>
                    <a:pt x="3654360" y="2543123"/>
                  </a:lnTo>
                  <a:lnTo>
                    <a:pt x="0" y="2543123"/>
                  </a:lnTo>
                  <a:close/>
                </a:path>
              </a:pathLst>
            </a:custGeom>
            <a:solidFill>
              <a:srgbClr val="2E5090">
                <a:alpha val="29804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654360" cy="2609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-7296847" y="784852"/>
            <a:ext cx="13875146" cy="9655921"/>
            <a:chOff x="0" y="0"/>
            <a:chExt cx="3654360" cy="254312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54360" cy="2543123"/>
            </a:xfrm>
            <a:custGeom>
              <a:avLst/>
              <a:gdLst/>
              <a:ahLst/>
              <a:cxnLst/>
              <a:rect l="l" t="t" r="r" b="b"/>
              <a:pathLst>
                <a:path w="3654360" h="2543123">
                  <a:moveTo>
                    <a:pt x="0" y="0"/>
                  </a:moveTo>
                  <a:lnTo>
                    <a:pt x="3654360" y="0"/>
                  </a:lnTo>
                  <a:lnTo>
                    <a:pt x="3654360" y="2543123"/>
                  </a:lnTo>
                  <a:lnTo>
                    <a:pt x="0" y="2543123"/>
                  </a:lnTo>
                  <a:close/>
                </a:path>
              </a:pathLst>
            </a:custGeom>
            <a:solidFill>
              <a:srgbClr val="2E5090">
                <a:alpha val="6000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3654360" cy="2609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5400000">
            <a:off x="-9504148" y="784852"/>
            <a:ext cx="13875146" cy="9655921"/>
            <a:chOff x="0" y="0"/>
            <a:chExt cx="3654360" cy="254312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54360" cy="2543123"/>
            </a:xfrm>
            <a:custGeom>
              <a:avLst/>
              <a:gdLst/>
              <a:ahLst/>
              <a:cxnLst/>
              <a:rect l="l" t="t" r="r" b="b"/>
              <a:pathLst>
                <a:path w="3654360" h="2543123">
                  <a:moveTo>
                    <a:pt x="0" y="0"/>
                  </a:moveTo>
                  <a:lnTo>
                    <a:pt x="3654360" y="0"/>
                  </a:lnTo>
                  <a:lnTo>
                    <a:pt x="3654360" y="2543123"/>
                  </a:lnTo>
                  <a:lnTo>
                    <a:pt x="0" y="2543123"/>
                  </a:lnTo>
                  <a:close/>
                </a:path>
              </a:pathLst>
            </a:custGeom>
            <a:solidFill>
              <a:srgbClr val="2E5090">
                <a:alpha val="6000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3654360" cy="2609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47" y="2579789"/>
            <a:ext cx="16312639" cy="5453358"/>
            <a:chOff x="0" y="0"/>
            <a:chExt cx="21750185" cy="72711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50147" cy="7271131"/>
            </a:xfrm>
            <a:custGeom>
              <a:avLst/>
              <a:gdLst/>
              <a:ahLst/>
              <a:cxnLst/>
              <a:rect l="l" t="t" r="r" b="b"/>
              <a:pathLst>
                <a:path w="21750147" h="7271131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lnTo>
                    <a:pt x="21591143" y="0"/>
                  </a:lnTo>
                  <a:cubicBezTo>
                    <a:pt x="21679027" y="0"/>
                    <a:pt x="21750147" y="71247"/>
                    <a:pt x="21750147" y="159004"/>
                  </a:cubicBezTo>
                  <a:lnTo>
                    <a:pt x="21750147" y="7112127"/>
                  </a:lnTo>
                  <a:cubicBezTo>
                    <a:pt x="21750147" y="7200011"/>
                    <a:pt x="21678900" y="7271131"/>
                    <a:pt x="21591143" y="7271131"/>
                  </a:cubicBezTo>
                  <a:lnTo>
                    <a:pt x="159004" y="7271131"/>
                  </a:lnTo>
                  <a:cubicBezTo>
                    <a:pt x="71247" y="7271131"/>
                    <a:pt x="0" y="7200011"/>
                    <a:pt x="0" y="7112127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85" b="-8285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01735" y="2594077"/>
            <a:ext cx="16284073" cy="722109"/>
            <a:chOff x="0" y="0"/>
            <a:chExt cx="21712098" cy="9628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12047" cy="962787"/>
            </a:xfrm>
            <a:custGeom>
              <a:avLst/>
              <a:gdLst/>
              <a:ahLst/>
              <a:cxnLst/>
              <a:rect l="l" t="t" r="r" b="b"/>
              <a:pathLst>
                <a:path w="21712047" h="962787">
                  <a:moveTo>
                    <a:pt x="0" y="0"/>
                  </a:moveTo>
                  <a:lnTo>
                    <a:pt x="21712047" y="0"/>
                  </a:lnTo>
                  <a:lnTo>
                    <a:pt x="21712047" y="962787"/>
                  </a:lnTo>
                  <a:lnTo>
                    <a:pt x="0" y="96278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02182" y="2594077"/>
            <a:ext cx="5210785" cy="722109"/>
            <a:chOff x="0" y="0"/>
            <a:chExt cx="6947713" cy="9628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47662" cy="962787"/>
            </a:xfrm>
            <a:custGeom>
              <a:avLst/>
              <a:gdLst/>
              <a:ahLst/>
              <a:cxnLst/>
              <a:rect l="l" t="t" r="r" b="b"/>
              <a:pathLst>
                <a:path w="6947662" h="962787">
                  <a:moveTo>
                    <a:pt x="132334" y="0"/>
                  </a:moveTo>
                  <a:lnTo>
                    <a:pt x="6947662" y="0"/>
                  </a:lnTo>
                  <a:lnTo>
                    <a:pt x="6947662" y="962787"/>
                  </a:lnTo>
                  <a:lnTo>
                    <a:pt x="0" y="962787"/>
                  </a:lnTo>
                  <a:lnTo>
                    <a:pt x="0" y="132334"/>
                  </a:lnTo>
                  <a:cubicBezTo>
                    <a:pt x="0" y="59182"/>
                    <a:pt x="59182" y="0"/>
                    <a:pt x="132334" y="0"/>
                  </a:cubicBezTo>
                  <a:close/>
                </a:path>
              </a:pathLst>
            </a:custGeom>
            <a:solidFill>
              <a:srgbClr val="2E5090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285694" y="2707034"/>
            <a:ext cx="5553380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Paper Title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212977" y="2594077"/>
            <a:ext cx="2605316" cy="722109"/>
            <a:chOff x="0" y="0"/>
            <a:chExt cx="3473755" cy="9628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473704" cy="962787"/>
            </a:xfrm>
            <a:custGeom>
              <a:avLst/>
              <a:gdLst/>
              <a:ahLst/>
              <a:cxnLst/>
              <a:rect l="l" t="t" r="r" b="b"/>
              <a:pathLst>
                <a:path w="3473704" h="962787">
                  <a:moveTo>
                    <a:pt x="0" y="0"/>
                  </a:moveTo>
                  <a:lnTo>
                    <a:pt x="3473704" y="0"/>
                  </a:lnTo>
                  <a:lnTo>
                    <a:pt x="3473704" y="962787"/>
                  </a:lnTo>
                  <a:lnTo>
                    <a:pt x="0" y="962787"/>
                  </a:lnTo>
                  <a:close/>
                </a:path>
              </a:pathLst>
            </a:custGeom>
            <a:solidFill>
              <a:srgbClr val="2E5090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6501241" y="2707034"/>
            <a:ext cx="294314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Publisher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818293" y="2594077"/>
            <a:ext cx="1628289" cy="722109"/>
            <a:chOff x="0" y="0"/>
            <a:chExt cx="2171052" cy="9628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1065" cy="962787"/>
            </a:xfrm>
            <a:custGeom>
              <a:avLst/>
              <a:gdLst/>
              <a:ahLst/>
              <a:cxnLst/>
              <a:rect l="l" t="t" r="r" b="b"/>
              <a:pathLst>
                <a:path w="2171065" h="962787">
                  <a:moveTo>
                    <a:pt x="0" y="0"/>
                  </a:moveTo>
                  <a:lnTo>
                    <a:pt x="2171065" y="0"/>
                  </a:lnTo>
                  <a:lnTo>
                    <a:pt x="2171065" y="962787"/>
                  </a:lnTo>
                  <a:lnTo>
                    <a:pt x="0" y="962787"/>
                  </a:lnTo>
                  <a:close/>
                </a:path>
              </a:pathLst>
            </a:custGeom>
            <a:solidFill>
              <a:srgbClr val="2E5090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9106567" y="2707034"/>
            <a:ext cx="1966122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Year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446582" y="2594077"/>
            <a:ext cx="2931100" cy="722109"/>
            <a:chOff x="0" y="0"/>
            <a:chExt cx="3908133" cy="9628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08171" cy="962787"/>
            </a:xfrm>
            <a:custGeom>
              <a:avLst/>
              <a:gdLst/>
              <a:ahLst/>
              <a:cxnLst/>
              <a:rect l="l" t="t" r="r" b="b"/>
              <a:pathLst>
                <a:path w="3908171" h="962787">
                  <a:moveTo>
                    <a:pt x="0" y="0"/>
                  </a:moveTo>
                  <a:lnTo>
                    <a:pt x="3908171" y="0"/>
                  </a:lnTo>
                  <a:lnTo>
                    <a:pt x="3908171" y="962787"/>
                  </a:lnTo>
                  <a:lnTo>
                    <a:pt x="0" y="962787"/>
                  </a:lnTo>
                  <a:close/>
                </a:path>
              </a:pathLst>
            </a:custGeom>
            <a:solidFill>
              <a:srgbClr val="2E5090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0734856" y="2707034"/>
            <a:ext cx="3268923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Technology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377672" y="2594077"/>
            <a:ext cx="3908127" cy="722109"/>
            <a:chOff x="0" y="0"/>
            <a:chExt cx="5210835" cy="96281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210810" cy="962787"/>
            </a:xfrm>
            <a:custGeom>
              <a:avLst/>
              <a:gdLst/>
              <a:ahLst/>
              <a:cxnLst/>
              <a:rect l="l" t="t" r="r" b="b"/>
              <a:pathLst>
                <a:path w="5210810" h="962787">
                  <a:moveTo>
                    <a:pt x="0" y="0"/>
                  </a:moveTo>
                  <a:lnTo>
                    <a:pt x="5078476" y="0"/>
                  </a:lnTo>
                  <a:cubicBezTo>
                    <a:pt x="5151501" y="0"/>
                    <a:pt x="5210810" y="59182"/>
                    <a:pt x="5210810" y="132334"/>
                  </a:cubicBezTo>
                  <a:lnTo>
                    <a:pt x="5210810" y="962787"/>
                  </a:lnTo>
                  <a:lnTo>
                    <a:pt x="0" y="96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09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01735" y="3316186"/>
            <a:ext cx="16284073" cy="1447800"/>
            <a:chOff x="0" y="0"/>
            <a:chExt cx="21712098" cy="1930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712047" cy="1930400"/>
            </a:xfrm>
            <a:custGeom>
              <a:avLst/>
              <a:gdLst/>
              <a:ahLst/>
              <a:cxnLst/>
              <a:rect l="l" t="t" r="r" b="b"/>
              <a:pathLst>
                <a:path w="21712047" h="1930400">
                  <a:moveTo>
                    <a:pt x="0" y="0"/>
                  </a:moveTo>
                  <a:lnTo>
                    <a:pt x="21712047" y="0"/>
                  </a:lnTo>
                  <a:lnTo>
                    <a:pt x="21712047" y="1930400"/>
                  </a:lnTo>
                  <a:lnTo>
                    <a:pt x="0" y="1930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002182" y="3316186"/>
            <a:ext cx="5210785" cy="1447800"/>
            <a:chOff x="0" y="0"/>
            <a:chExt cx="6947713" cy="1930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47662" cy="1930400"/>
            </a:xfrm>
            <a:custGeom>
              <a:avLst/>
              <a:gdLst/>
              <a:ahLst/>
              <a:cxnLst/>
              <a:rect l="l" t="t" r="r" b="b"/>
              <a:pathLst>
                <a:path w="6947662" h="1930400">
                  <a:moveTo>
                    <a:pt x="0" y="0"/>
                  </a:moveTo>
                  <a:lnTo>
                    <a:pt x="6947662" y="0"/>
                  </a:lnTo>
                  <a:lnTo>
                    <a:pt x="6947662" y="1930400"/>
                  </a:lnTo>
                  <a:lnTo>
                    <a:pt x="0" y="1930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6212977" y="3316186"/>
            <a:ext cx="2605316" cy="1447800"/>
            <a:chOff x="0" y="0"/>
            <a:chExt cx="3473755" cy="1930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473704" cy="1930400"/>
            </a:xfrm>
            <a:custGeom>
              <a:avLst/>
              <a:gdLst/>
              <a:ahLst/>
              <a:cxnLst/>
              <a:rect l="l" t="t" r="r" b="b"/>
              <a:pathLst>
                <a:path w="3473704" h="1930400">
                  <a:moveTo>
                    <a:pt x="0" y="0"/>
                  </a:moveTo>
                  <a:lnTo>
                    <a:pt x="3473704" y="0"/>
                  </a:lnTo>
                  <a:lnTo>
                    <a:pt x="3473704" y="1930400"/>
                  </a:lnTo>
                  <a:lnTo>
                    <a:pt x="0" y="1930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6501241" y="3429152"/>
            <a:ext cx="294314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IEEE Access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818293" y="3316186"/>
            <a:ext cx="1628289" cy="1447800"/>
            <a:chOff x="0" y="0"/>
            <a:chExt cx="2171052" cy="1930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71065" cy="1930400"/>
            </a:xfrm>
            <a:custGeom>
              <a:avLst/>
              <a:gdLst/>
              <a:ahLst/>
              <a:cxnLst/>
              <a:rect l="l" t="t" r="r" b="b"/>
              <a:pathLst>
                <a:path w="2171065" h="1930400">
                  <a:moveTo>
                    <a:pt x="0" y="0"/>
                  </a:moveTo>
                  <a:lnTo>
                    <a:pt x="2171065" y="0"/>
                  </a:lnTo>
                  <a:lnTo>
                    <a:pt x="2171065" y="1930400"/>
                  </a:lnTo>
                  <a:lnTo>
                    <a:pt x="0" y="1930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9106567" y="3429152"/>
            <a:ext cx="1966122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2025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446582" y="3316186"/>
            <a:ext cx="2931100" cy="1447800"/>
            <a:chOff x="0" y="0"/>
            <a:chExt cx="3908133" cy="1930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908171" cy="1930400"/>
            </a:xfrm>
            <a:custGeom>
              <a:avLst/>
              <a:gdLst/>
              <a:ahLst/>
              <a:cxnLst/>
              <a:rect l="l" t="t" r="r" b="b"/>
              <a:pathLst>
                <a:path w="3908171" h="1930400">
                  <a:moveTo>
                    <a:pt x="0" y="0"/>
                  </a:moveTo>
                  <a:lnTo>
                    <a:pt x="3908171" y="0"/>
                  </a:lnTo>
                  <a:lnTo>
                    <a:pt x="3908171" y="1930400"/>
                  </a:lnTo>
                  <a:lnTo>
                    <a:pt x="0" y="1930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3377672" y="3316186"/>
            <a:ext cx="3908127" cy="1447800"/>
            <a:chOff x="0" y="0"/>
            <a:chExt cx="5210835" cy="1930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210810" cy="1930400"/>
            </a:xfrm>
            <a:custGeom>
              <a:avLst/>
              <a:gdLst/>
              <a:ahLst/>
              <a:cxnLst/>
              <a:rect l="l" t="t" r="r" b="b"/>
              <a:pathLst>
                <a:path w="5210810" h="1930400">
                  <a:moveTo>
                    <a:pt x="0" y="0"/>
                  </a:moveTo>
                  <a:lnTo>
                    <a:pt x="5210810" y="0"/>
                  </a:lnTo>
                  <a:lnTo>
                    <a:pt x="5210810" y="1930400"/>
                  </a:lnTo>
                  <a:lnTo>
                    <a:pt x="0" y="1930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001735" y="4763986"/>
            <a:ext cx="16284073" cy="1084955"/>
            <a:chOff x="0" y="0"/>
            <a:chExt cx="21712098" cy="144660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1712047" cy="1446657"/>
            </a:xfrm>
            <a:custGeom>
              <a:avLst/>
              <a:gdLst/>
              <a:ahLst/>
              <a:cxnLst/>
              <a:rect l="l" t="t" r="r" b="b"/>
              <a:pathLst>
                <a:path w="21712047" h="1446657">
                  <a:moveTo>
                    <a:pt x="0" y="0"/>
                  </a:moveTo>
                  <a:lnTo>
                    <a:pt x="21712047" y="0"/>
                  </a:lnTo>
                  <a:lnTo>
                    <a:pt x="21712047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002182" y="4763986"/>
            <a:ext cx="5210785" cy="1084955"/>
            <a:chOff x="0" y="0"/>
            <a:chExt cx="6947713" cy="144660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947662" cy="1446657"/>
            </a:xfrm>
            <a:custGeom>
              <a:avLst/>
              <a:gdLst/>
              <a:ahLst/>
              <a:cxnLst/>
              <a:rect l="l" t="t" r="r" b="b"/>
              <a:pathLst>
                <a:path w="6947662" h="1446657">
                  <a:moveTo>
                    <a:pt x="0" y="0"/>
                  </a:moveTo>
                  <a:lnTo>
                    <a:pt x="6947662" y="0"/>
                  </a:lnTo>
                  <a:lnTo>
                    <a:pt x="6947662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6212977" y="4763986"/>
            <a:ext cx="2605316" cy="1084955"/>
            <a:chOff x="0" y="0"/>
            <a:chExt cx="3473755" cy="144660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473704" cy="1446657"/>
            </a:xfrm>
            <a:custGeom>
              <a:avLst/>
              <a:gdLst/>
              <a:ahLst/>
              <a:cxnLst/>
              <a:rect l="l" t="t" r="r" b="b"/>
              <a:pathLst>
                <a:path w="3473704" h="1446657">
                  <a:moveTo>
                    <a:pt x="0" y="0"/>
                  </a:moveTo>
                  <a:lnTo>
                    <a:pt x="3473704" y="0"/>
                  </a:lnTo>
                  <a:lnTo>
                    <a:pt x="3473704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6501241" y="4876952"/>
            <a:ext cx="294314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J. Cryptology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8818293" y="4763986"/>
            <a:ext cx="1628289" cy="1084955"/>
            <a:chOff x="0" y="0"/>
            <a:chExt cx="2171052" cy="144660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71065" cy="1446657"/>
            </a:xfrm>
            <a:custGeom>
              <a:avLst/>
              <a:gdLst/>
              <a:ahLst/>
              <a:cxnLst/>
              <a:rect l="l" t="t" r="r" b="b"/>
              <a:pathLst>
                <a:path w="2171065" h="1446657">
                  <a:moveTo>
                    <a:pt x="0" y="0"/>
                  </a:moveTo>
                  <a:lnTo>
                    <a:pt x="2171065" y="0"/>
                  </a:lnTo>
                  <a:lnTo>
                    <a:pt x="2171065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9106567" y="4876952"/>
            <a:ext cx="1966122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2021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0446582" y="4763986"/>
            <a:ext cx="2931100" cy="1084955"/>
            <a:chOff x="0" y="0"/>
            <a:chExt cx="3908133" cy="144660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908171" cy="1446657"/>
            </a:xfrm>
            <a:custGeom>
              <a:avLst/>
              <a:gdLst/>
              <a:ahLst/>
              <a:cxnLst/>
              <a:rect l="l" t="t" r="r" b="b"/>
              <a:pathLst>
                <a:path w="3908171" h="1446657">
                  <a:moveTo>
                    <a:pt x="0" y="0"/>
                  </a:moveTo>
                  <a:lnTo>
                    <a:pt x="3908171" y="0"/>
                  </a:lnTo>
                  <a:lnTo>
                    <a:pt x="3908171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id="50" name="TextBox 50"/>
          <p:cNvSpPr txBox="1"/>
          <p:nvPr/>
        </p:nvSpPr>
        <p:spPr>
          <a:xfrm>
            <a:off x="10734856" y="4876952"/>
            <a:ext cx="3268923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ASCON algorithm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3377672" y="4763986"/>
            <a:ext cx="3908127" cy="1084955"/>
            <a:chOff x="0" y="0"/>
            <a:chExt cx="5210835" cy="144660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210810" cy="1446657"/>
            </a:xfrm>
            <a:custGeom>
              <a:avLst/>
              <a:gdLst/>
              <a:ahLst/>
              <a:cxnLst/>
              <a:rect l="l" t="t" r="r" b="b"/>
              <a:pathLst>
                <a:path w="5210810" h="1446657">
                  <a:moveTo>
                    <a:pt x="0" y="0"/>
                  </a:moveTo>
                  <a:lnTo>
                    <a:pt x="5210810" y="0"/>
                  </a:lnTo>
                  <a:lnTo>
                    <a:pt x="5210810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001735" y="5848950"/>
            <a:ext cx="16284073" cy="1084955"/>
            <a:chOff x="0" y="0"/>
            <a:chExt cx="21712098" cy="144660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712047" cy="1446657"/>
            </a:xfrm>
            <a:custGeom>
              <a:avLst/>
              <a:gdLst/>
              <a:ahLst/>
              <a:cxnLst/>
              <a:rect l="l" t="t" r="r" b="b"/>
              <a:pathLst>
                <a:path w="21712047" h="1446657">
                  <a:moveTo>
                    <a:pt x="0" y="0"/>
                  </a:moveTo>
                  <a:lnTo>
                    <a:pt x="21712047" y="0"/>
                  </a:lnTo>
                  <a:lnTo>
                    <a:pt x="21712047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002182" y="5848950"/>
            <a:ext cx="5210785" cy="1084955"/>
            <a:chOff x="0" y="0"/>
            <a:chExt cx="6947713" cy="144660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947662" cy="1446657"/>
            </a:xfrm>
            <a:custGeom>
              <a:avLst/>
              <a:gdLst/>
              <a:ahLst/>
              <a:cxnLst/>
              <a:rect l="l" t="t" r="r" b="b"/>
              <a:pathLst>
                <a:path w="6947662" h="1446657">
                  <a:moveTo>
                    <a:pt x="0" y="0"/>
                  </a:moveTo>
                  <a:lnTo>
                    <a:pt x="6947662" y="0"/>
                  </a:lnTo>
                  <a:lnTo>
                    <a:pt x="6947662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6212977" y="5848950"/>
            <a:ext cx="2605316" cy="1084955"/>
            <a:chOff x="0" y="0"/>
            <a:chExt cx="3473755" cy="144660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473704" cy="1446657"/>
            </a:xfrm>
            <a:custGeom>
              <a:avLst/>
              <a:gdLst/>
              <a:ahLst/>
              <a:cxnLst/>
              <a:rect l="l" t="t" r="r" b="b"/>
              <a:pathLst>
                <a:path w="3473704" h="1446657">
                  <a:moveTo>
                    <a:pt x="0" y="0"/>
                  </a:moveTo>
                  <a:lnTo>
                    <a:pt x="3473704" y="0"/>
                  </a:lnTo>
                  <a:lnTo>
                    <a:pt x="3473704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9" name="TextBox 59"/>
          <p:cNvSpPr txBox="1"/>
          <p:nvPr/>
        </p:nvSpPr>
        <p:spPr>
          <a:xfrm>
            <a:off x="6501241" y="5961907"/>
            <a:ext cx="294314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IEEE (PACET)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8818293" y="5848950"/>
            <a:ext cx="1628289" cy="1084955"/>
            <a:chOff x="0" y="0"/>
            <a:chExt cx="2171052" cy="144660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171065" cy="1446657"/>
            </a:xfrm>
            <a:custGeom>
              <a:avLst/>
              <a:gdLst/>
              <a:ahLst/>
              <a:cxnLst/>
              <a:rect l="l" t="t" r="r" b="b"/>
              <a:pathLst>
                <a:path w="2171065" h="1446657">
                  <a:moveTo>
                    <a:pt x="0" y="0"/>
                  </a:moveTo>
                  <a:lnTo>
                    <a:pt x="2171065" y="0"/>
                  </a:lnTo>
                  <a:lnTo>
                    <a:pt x="2171065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2" name="TextBox 62"/>
          <p:cNvSpPr txBox="1"/>
          <p:nvPr/>
        </p:nvSpPr>
        <p:spPr>
          <a:xfrm>
            <a:off x="9106567" y="5961907"/>
            <a:ext cx="1966122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2024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0446582" y="5848950"/>
            <a:ext cx="2931100" cy="1084955"/>
            <a:chOff x="0" y="0"/>
            <a:chExt cx="3908133" cy="144660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908171" cy="1446657"/>
            </a:xfrm>
            <a:custGeom>
              <a:avLst/>
              <a:gdLst/>
              <a:ahLst/>
              <a:cxnLst/>
              <a:rect l="l" t="t" r="r" b="b"/>
              <a:pathLst>
                <a:path w="3908171" h="1446657">
                  <a:moveTo>
                    <a:pt x="0" y="0"/>
                  </a:moveTo>
                  <a:lnTo>
                    <a:pt x="3908171" y="0"/>
                  </a:lnTo>
                  <a:lnTo>
                    <a:pt x="3908171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5" name="TextBox 65"/>
          <p:cNvSpPr txBox="1"/>
          <p:nvPr/>
        </p:nvSpPr>
        <p:spPr>
          <a:xfrm>
            <a:off x="10734856" y="5961907"/>
            <a:ext cx="3268923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FPGA/ASIC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3377672" y="5848950"/>
            <a:ext cx="3908127" cy="1084955"/>
            <a:chOff x="0" y="0"/>
            <a:chExt cx="5210835" cy="144660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210810" cy="1446657"/>
            </a:xfrm>
            <a:custGeom>
              <a:avLst/>
              <a:gdLst/>
              <a:ahLst/>
              <a:cxnLst/>
              <a:rect l="l" t="t" r="r" b="b"/>
              <a:pathLst>
                <a:path w="5210810" h="1446657">
                  <a:moveTo>
                    <a:pt x="0" y="0"/>
                  </a:moveTo>
                  <a:lnTo>
                    <a:pt x="5210810" y="0"/>
                  </a:lnTo>
                  <a:lnTo>
                    <a:pt x="5210810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1001735" y="6933905"/>
            <a:ext cx="16284073" cy="1084955"/>
            <a:chOff x="0" y="0"/>
            <a:chExt cx="21712098" cy="144660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1712047" cy="1446657"/>
            </a:xfrm>
            <a:custGeom>
              <a:avLst/>
              <a:gdLst/>
              <a:ahLst/>
              <a:cxnLst/>
              <a:rect l="l" t="t" r="r" b="b"/>
              <a:pathLst>
                <a:path w="21712047" h="1446657">
                  <a:moveTo>
                    <a:pt x="0" y="0"/>
                  </a:moveTo>
                  <a:lnTo>
                    <a:pt x="21712047" y="0"/>
                  </a:lnTo>
                  <a:lnTo>
                    <a:pt x="21712047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1002182" y="6933905"/>
            <a:ext cx="5210785" cy="1084955"/>
            <a:chOff x="0" y="0"/>
            <a:chExt cx="6947713" cy="144660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947662" cy="1446657"/>
            </a:xfrm>
            <a:custGeom>
              <a:avLst/>
              <a:gdLst/>
              <a:ahLst/>
              <a:cxnLst/>
              <a:rect l="l" t="t" r="r" b="b"/>
              <a:pathLst>
                <a:path w="6947662" h="1446657">
                  <a:moveTo>
                    <a:pt x="0" y="0"/>
                  </a:moveTo>
                  <a:lnTo>
                    <a:pt x="6947662" y="0"/>
                  </a:lnTo>
                  <a:lnTo>
                    <a:pt x="6947662" y="1446657"/>
                  </a:lnTo>
                  <a:lnTo>
                    <a:pt x="132334" y="1446657"/>
                  </a:lnTo>
                  <a:cubicBezTo>
                    <a:pt x="59182" y="1446657"/>
                    <a:pt x="0" y="1387348"/>
                    <a:pt x="0" y="131432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6212977" y="6933905"/>
            <a:ext cx="2605316" cy="1084955"/>
            <a:chOff x="0" y="0"/>
            <a:chExt cx="3473755" cy="144660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473704" cy="1446657"/>
            </a:xfrm>
            <a:custGeom>
              <a:avLst/>
              <a:gdLst/>
              <a:ahLst/>
              <a:cxnLst/>
              <a:rect l="l" t="t" r="r" b="b"/>
              <a:pathLst>
                <a:path w="3473704" h="1446657">
                  <a:moveTo>
                    <a:pt x="0" y="0"/>
                  </a:moveTo>
                  <a:lnTo>
                    <a:pt x="3473704" y="0"/>
                  </a:lnTo>
                  <a:lnTo>
                    <a:pt x="3473704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id="77" name="TextBox 77"/>
          <p:cNvSpPr txBox="1"/>
          <p:nvPr/>
        </p:nvSpPr>
        <p:spPr>
          <a:xfrm>
            <a:off x="6501241" y="7046862"/>
            <a:ext cx="2943149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Electronics</a:t>
            </a:r>
          </a:p>
        </p:txBody>
      </p:sp>
      <p:grpSp>
        <p:nvGrpSpPr>
          <p:cNvPr id="78" name="Group 78"/>
          <p:cNvGrpSpPr/>
          <p:nvPr/>
        </p:nvGrpSpPr>
        <p:grpSpPr>
          <a:xfrm>
            <a:off x="8818293" y="6933905"/>
            <a:ext cx="1628289" cy="1084955"/>
            <a:chOff x="0" y="0"/>
            <a:chExt cx="2171052" cy="1446606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171065" cy="1446657"/>
            </a:xfrm>
            <a:custGeom>
              <a:avLst/>
              <a:gdLst/>
              <a:ahLst/>
              <a:cxnLst/>
              <a:rect l="l" t="t" r="r" b="b"/>
              <a:pathLst>
                <a:path w="2171065" h="1446657">
                  <a:moveTo>
                    <a:pt x="0" y="0"/>
                  </a:moveTo>
                  <a:lnTo>
                    <a:pt x="2171065" y="0"/>
                  </a:lnTo>
                  <a:lnTo>
                    <a:pt x="2171065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id="80" name="TextBox 80"/>
          <p:cNvSpPr txBox="1"/>
          <p:nvPr/>
        </p:nvSpPr>
        <p:spPr>
          <a:xfrm>
            <a:off x="9106567" y="7046862"/>
            <a:ext cx="1966122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2024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10446582" y="6933905"/>
            <a:ext cx="2931100" cy="1084955"/>
            <a:chOff x="0" y="0"/>
            <a:chExt cx="3908133" cy="144660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908171" cy="1446657"/>
            </a:xfrm>
            <a:custGeom>
              <a:avLst/>
              <a:gdLst/>
              <a:ahLst/>
              <a:cxnLst/>
              <a:rect l="l" t="t" r="r" b="b"/>
              <a:pathLst>
                <a:path w="3908171" h="1446657">
                  <a:moveTo>
                    <a:pt x="0" y="0"/>
                  </a:moveTo>
                  <a:lnTo>
                    <a:pt x="3908171" y="0"/>
                  </a:lnTo>
                  <a:lnTo>
                    <a:pt x="3908171" y="1446657"/>
                  </a:lnTo>
                  <a:lnTo>
                    <a:pt x="0" y="1446657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id="83" name="TextBox 83"/>
          <p:cNvSpPr txBox="1"/>
          <p:nvPr/>
        </p:nvSpPr>
        <p:spPr>
          <a:xfrm>
            <a:off x="10734856" y="7046862"/>
            <a:ext cx="3268923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ASCON + CAN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13377672" y="6933905"/>
            <a:ext cx="3908127" cy="1084955"/>
            <a:chOff x="0" y="0"/>
            <a:chExt cx="5210835" cy="144660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5210810" cy="1446657"/>
            </a:xfrm>
            <a:custGeom>
              <a:avLst/>
              <a:gdLst/>
              <a:ahLst/>
              <a:cxnLst/>
              <a:rect l="l" t="t" r="r" b="b"/>
              <a:pathLst>
                <a:path w="5210810" h="1446657">
                  <a:moveTo>
                    <a:pt x="0" y="0"/>
                  </a:moveTo>
                  <a:lnTo>
                    <a:pt x="5210810" y="0"/>
                  </a:lnTo>
                  <a:lnTo>
                    <a:pt x="5210810" y="1314323"/>
                  </a:lnTo>
                  <a:cubicBezTo>
                    <a:pt x="5210810" y="1387348"/>
                    <a:pt x="5151628" y="1446657"/>
                    <a:pt x="5078476" y="1446657"/>
                  </a:cubicBezTo>
                  <a:lnTo>
                    <a:pt x="0" y="1446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id="86" name="TextBox 86"/>
          <p:cNvSpPr txBox="1"/>
          <p:nvPr/>
        </p:nvSpPr>
        <p:spPr>
          <a:xfrm>
            <a:off x="956186" y="743845"/>
            <a:ext cx="15822117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000" b="1" spc="-152">
                <a:solidFill>
                  <a:srgbClr val="00008B"/>
                </a:solidFill>
                <a:latin typeface="Inter Bold"/>
                <a:ea typeface="Inter Bold"/>
                <a:cs typeface="Inter Bold"/>
                <a:sym typeface="Inter Bold"/>
              </a:rPr>
              <a:t>Literature Review - Key Papers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3665946" y="2707034"/>
            <a:ext cx="4250722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Key Contribution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285694" y="3429152"/>
            <a:ext cx="4639008" cy="1155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Implementation and Performance of Lightweight Authentication Encryption ASCON on IoT Devices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0734856" y="3429152"/>
            <a:ext cx="2354551" cy="79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ASCON, CupCarbon, Raspberry Pi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3665946" y="3429152"/>
            <a:ext cx="3336341" cy="1155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First integrated CupCarbon simulation; Raspberry Pi validation; 2-node testing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285694" y="4876952"/>
            <a:ext cx="4639008" cy="79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ASCON v1.2: Lightweight Authenticated Encryption and Hashing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3665946" y="4876952"/>
            <a:ext cx="3336341" cy="79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Formal algorithm specification; security proofs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285694" y="5961907"/>
            <a:ext cx="4639008" cy="79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Robust ASCON Cryptographic Coprocessor for Secure IoT Applications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3665946" y="5961907"/>
            <a:ext cx="3336341" cy="79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Hardware acceleration; energy efficiency analysis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285694" y="7046862"/>
            <a:ext cx="4639008" cy="79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Lightweight Post-Quantum Security in Automotive CAN Systems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3665946" y="7046862"/>
            <a:ext cx="3336341" cy="79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72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Real-world automotive deployment; quantum resistance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535253" y="9182100"/>
            <a:ext cx="17217495" cy="37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2"/>
              </a:lnSpc>
            </a:pPr>
            <a:r>
              <a:rPr lang="en-US" sz="2000" spc="-4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837350" y="3875199"/>
            <a:ext cx="4793611" cy="4139670"/>
            <a:chOff x="0" y="0"/>
            <a:chExt cx="1262515" cy="10902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2515" cy="1090284"/>
            </a:xfrm>
            <a:custGeom>
              <a:avLst/>
              <a:gdLst/>
              <a:ahLst/>
              <a:cxnLst/>
              <a:rect l="l" t="t" r="r" b="b"/>
              <a:pathLst>
                <a:path w="1262515" h="1090284">
                  <a:moveTo>
                    <a:pt x="0" y="0"/>
                  </a:moveTo>
                  <a:lnTo>
                    <a:pt x="1262515" y="0"/>
                  </a:lnTo>
                  <a:lnTo>
                    <a:pt x="1262515" y="1090284"/>
                  </a:lnTo>
                  <a:lnTo>
                    <a:pt x="0" y="1090284"/>
                  </a:lnTo>
                  <a:close/>
                </a:path>
              </a:pathLst>
            </a:custGeom>
            <a:solidFill>
              <a:srgbClr val="6D78A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262515" cy="1156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835207" y="3895497"/>
            <a:ext cx="4616977" cy="339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621" lvl="1" indent="-196810" algn="l">
              <a:lnSpc>
                <a:spcPts val="3445"/>
              </a:lnSpc>
              <a:buFont typeface="Arial"/>
              <a:buChar char="•"/>
            </a:pPr>
            <a:r>
              <a:rPr lang="en-US" sz="2175" spc="-4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Extend 2-node simulation to multi-node topologies (10, 25, 50 nodes)</a:t>
            </a:r>
          </a:p>
          <a:p>
            <a:pPr marL="393621" lvl="1" indent="-196810" algn="l">
              <a:lnSpc>
                <a:spcPts val="3445"/>
              </a:lnSpc>
              <a:buFont typeface="Arial"/>
              <a:buChar char="•"/>
            </a:pPr>
            <a:r>
              <a:rPr lang="en-US" sz="2175" spc="-4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Identify resource bottlenecks (gateway decryption throughput)</a:t>
            </a:r>
          </a:p>
          <a:p>
            <a:pPr marL="393621" lvl="1" indent="-196810" algn="l">
              <a:lnSpc>
                <a:spcPts val="3445"/>
              </a:lnSpc>
              <a:buFont typeface="Arial"/>
              <a:buChar char="•"/>
            </a:pPr>
            <a:r>
              <a:rPr lang="en-US" sz="2175" spc="-4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Characterize performance degradation as network size grows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13498" y="3875199"/>
            <a:ext cx="4793611" cy="4139670"/>
            <a:chOff x="0" y="0"/>
            <a:chExt cx="1262515" cy="10902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62515" cy="1090284"/>
            </a:xfrm>
            <a:custGeom>
              <a:avLst/>
              <a:gdLst/>
              <a:ahLst/>
              <a:cxnLst/>
              <a:rect l="l" t="t" r="r" b="b"/>
              <a:pathLst>
                <a:path w="1262515" h="1090284">
                  <a:moveTo>
                    <a:pt x="0" y="0"/>
                  </a:moveTo>
                  <a:lnTo>
                    <a:pt x="1262515" y="0"/>
                  </a:lnTo>
                  <a:lnTo>
                    <a:pt x="1262515" y="1090284"/>
                  </a:lnTo>
                  <a:lnTo>
                    <a:pt x="0" y="1090284"/>
                  </a:lnTo>
                  <a:close/>
                </a:path>
              </a:pathLst>
            </a:custGeom>
            <a:solidFill>
              <a:srgbClr val="6D78A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262515" cy="1156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892753" y="575129"/>
            <a:ext cx="19380111" cy="1215104"/>
            <a:chOff x="0" y="0"/>
            <a:chExt cx="5104227" cy="32002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04227" cy="320027"/>
            </a:xfrm>
            <a:custGeom>
              <a:avLst/>
              <a:gdLst/>
              <a:ahLst/>
              <a:cxnLst/>
              <a:rect l="l" t="t" r="r" b="b"/>
              <a:pathLst>
                <a:path w="5104227" h="320027">
                  <a:moveTo>
                    <a:pt x="0" y="0"/>
                  </a:moveTo>
                  <a:lnTo>
                    <a:pt x="5104227" y="0"/>
                  </a:lnTo>
                  <a:lnTo>
                    <a:pt x="5104227" y="320027"/>
                  </a:lnTo>
                  <a:lnTo>
                    <a:pt x="0" y="320027"/>
                  </a:lnTo>
                  <a:close/>
                </a:path>
              </a:pathLst>
            </a:custGeom>
            <a:solidFill>
              <a:srgbClr val="6D78A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5104227" cy="386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2210" y="783584"/>
            <a:ext cx="16659287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000" b="1" spc="-15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Research Objectives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3497" y="2993536"/>
            <a:ext cx="4616834" cy="881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 spc="-8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Fix Key Exchange Vulnerability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3498" y="3895497"/>
            <a:ext cx="4616834" cy="418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621" lvl="1" indent="-196810" algn="l">
              <a:lnSpc>
                <a:spcPts val="3445"/>
              </a:lnSpc>
              <a:buFont typeface="Arial"/>
              <a:buChar char="•"/>
            </a:pPr>
            <a:r>
              <a:rPr lang="en-US" sz="2175" spc="-4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Eliminate plaintext key transmission by integrating ECDH (Curve25519) before ASCON encryption</a:t>
            </a:r>
          </a:p>
          <a:p>
            <a:pPr marL="393621" lvl="1" indent="-196810" algn="l">
              <a:lnSpc>
                <a:spcPts val="3445"/>
              </a:lnSpc>
              <a:buFont typeface="Arial"/>
              <a:buChar char="•"/>
            </a:pPr>
            <a:r>
              <a:rPr lang="en-US" sz="2175" spc="-4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Validate cryptographic correctness of ECDH + ASCON composition</a:t>
            </a:r>
          </a:p>
          <a:p>
            <a:pPr marL="393621" lvl="1" indent="-196810" algn="l">
              <a:lnSpc>
                <a:spcPts val="3445"/>
              </a:lnSpc>
              <a:buFont typeface="Arial"/>
              <a:buChar char="•"/>
            </a:pPr>
            <a:r>
              <a:rPr lang="en-US" sz="2175" spc="-4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Measure latency overhead on Raspberry Pi Zero 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37350" y="2993541"/>
            <a:ext cx="4616977" cy="4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 spc="-8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Scale ASCON in CupCarbon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61202" y="2993536"/>
            <a:ext cx="4616834" cy="881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 spc="-8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Production-Ready Security Model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361202" y="3875199"/>
            <a:ext cx="4793611" cy="4139670"/>
            <a:chOff x="0" y="0"/>
            <a:chExt cx="1262515" cy="109028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62515" cy="1090284"/>
            </a:xfrm>
            <a:custGeom>
              <a:avLst/>
              <a:gdLst/>
              <a:ahLst/>
              <a:cxnLst/>
              <a:rect l="l" t="t" r="r" b="b"/>
              <a:pathLst>
                <a:path w="1262515" h="1090284">
                  <a:moveTo>
                    <a:pt x="0" y="0"/>
                  </a:moveTo>
                  <a:lnTo>
                    <a:pt x="1262515" y="0"/>
                  </a:lnTo>
                  <a:lnTo>
                    <a:pt x="1262515" y="1090284"/>
                  </a:lnTo>
                  <a:lnTo>
                    <a:pt x="0" y="1090284"/>
                  </a:lnTo>
                  <a:close/>
                </a:path>
              </a:pathLst>
            </a:custGeom>
            <a:solidFill>
              <a:srgbClr val="6D78A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1262515" cy="1156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449590" y="3949160"/>
            <a:ext cx="4616834" cy="2312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621" lvl="1" indent="-196810" algn="l">
              <a:lnSpc>
                <a:spcPts val="3445"/>
              </a:lnSpc>
              <a:buFont typeface="Arial"/>
              <a:buChar char="•"/>
            </a:pPr>
            <a:r>
              <a:rPr lang="en-US" sz="2175" spc="-4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Combine key agreement + lightweight encryption</a:t>
            </a:r>
          </a:p>
          <a:p>
            <a:pPr marL="393621" lvl="1" indent="-196810" algn="l">
              <a:lnSpc>
                <a:spcPts val="3445"/>
              </a:lnSpc>
              <a:buFont typeface="Arial"/>
              <a:buChar char="•"/>
            </a:pPr>
            <a:r>
              <a:rPr lang="en-US" sz="2175" spc="-4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Validate on real hardware (Raspberry Pi) + simulator (</a:t>
            </a:r>
            <a:r>
              <a:rPr lang="en-US" sz="2175" spc="-43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CupCarbon</a:t>
            </a:r>
            <a:r>
              <a:rPr lang="en-US" sz="2175" spc="-43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5253" y="9319374"/>
            <a:ext cx="17217495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2175" spc="-43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833733"/>
            <a:ext cx="10307089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000" b="1" spc="-151">
                <a:solidFill>
                  <a:srgbClr val="2E5090"/>
                </a:solidFill>
                <a:latin typeface="Inter Bold"/>
                <a:ea typeface="Inter Bold"/>
                <a:cs typeface="Inter Bold"/>
                <a:sym typeface="Inter Bold"/>
              </a:rPr>
              <a:t>The Critical Flaw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2262340"/>
            <a:ext cx="4444504" cy="39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550" b="1" spc="-7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CURRENT IMPLEMENTATION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10" y="2951112"/>
            <a:ext cx="9526848" cy="5539388"/>
            <a:chOff x="0" y="0"/>
            <a:chExt cx="12702464" cy="73858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702540" cy="7385939"/>
            </a:xfrm>
            <a:custGeom>
              <a:avLst/>
              <a:gdLst/>
              <a:ahLst/>
              <a:cxnLst/>
              <a:rect l="l" t="t" r="r" b="b"/>
              <a:pathLst>
                <a:path w="12702540" h="7385939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2556109" y="0"/>
                  </a:lnTo>
                  <a:cubicBezTo>
                    <a:pt x="12637008" y="0"/>
                    <a:pt x="12702540" y="65532"/>
                    <a:pt x="12702540" y="146431"/>
                  </a:cubicBezTo>
                  <a:lnTo>
                    <a:pt x="12702540" y="7239508"/>
                  </a:lnTo>
                  <a:cubicBezTo>
                    <a:pt x="12702540" y="7320407"/>
                    <a:pt x="12637008" y="7385939"/>
                    <a:pt x="12556109" y="7385939"/>
                  </a:cubicBezTo>
                  <a:lnTo>
                    <a:pt x="146431" y="7385939"/>
                  </a:lnTo>
                  <a:cubicBezTo>
                    <a:pt x="65532" y="7385812"/>
                    <a:pt x="0" y="7320280"/>
                    <a:pt x="0" y="723950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305782" y="3098159"/>
            <a:ext cx="8899703" cy="5131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1"/>
              </a:lnSpc>
            </a:pPr>
            <a:r>
              <a:rPr lang="en-US" sz="2025" spc="-4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CLIENT:</a:t>
            </a:r>
          </a:p>
          <a:p>
            <a:pPr algn="l">
              <a:lnSpc>
                <a:spcPts val="3231"/>
              </a:lnSpc>
            </a:pPr>
            <a:r>
              <a:rPr lang="en-US" sz="2025" spc="-4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key = random_bytes(16)</a:t>
            </a:r>
          </a:p>
          <a:p>
            <a:pPr algn="l">
              <a:lnSpc>
                <a:spcPts val="3231"/>
              </a:lnSpc>
            </a:pPr>
            <a:r>
              <a:rPr lang="en-US" sz="2025" spc="-4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socket.send(key) ← PLAINTEXT over WiFi</a:t>
            </a:r>
          </a:p>
          <a:p>
            <a:pPr algn="l">
              <a:lnSpc>
                <a:spcPts val="3231"/>
              </a:lnSpc>
            </a:pPr>
            <a:r>
              <a:rPr lang="en-US" sz="2025" spc="-4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nonce = random_bytes(16)</a:t>
            </a:r>
          </a:p>
          <a:p>
            <a:pPr algn="l">
              <a:lnSpc>
                <a:spcPts val="3231"/>
              </a:lnSpc>
            </a:pPr>
            <a:r>
              <a:rPr lang="en-US" sz="2025" spc="-4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ciphertext = ASCON(plaintext, key)</a:t>
            </a:r>
          </a:p>
          <a:p>
            <a:pPr algn="l">
              <a:lnSpc>
                <a:spcPts val="3231"/>
              </a:lnSpc>
            </a:pPr>
            <a:endParaRPr lang="en-US" sz="2025" spc="-4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3231"/>
              </a:lnSpc>
            </a:pPr>
            <a:r>
              <a:rPr lang="en-US" sz="2025" spc="-4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↓ [Network - WiFi sniffing]</a:t>
            </a:r>
          </a:p>
          <a:p>
            <a:pPr algn="l">
              <a:lnSpc>
                <a:spcPts val="3231"/>
              </a:lnSpc>
            </a:pPr>
            <a:endParaRPr lang="en-US" sz="2025" spc="-40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3231"/>
              </a:lnSpc>
            </a:pPr>
            <a:r>
              <a:rPr lang="en-US" sz="2025" spc="-4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ATTACKER (passive sniffing):</a:t>
            </a:r>
          </a:p>
          <a:p>
            <a:pPr algn="l">
              <a:lnSpc>
                <a:spcPts val="3231"/>
              </a:lnSpc>
            </a:pPr>
            <a:r>
              <a:rPr lang="en-US" sz="2025" spc="-4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Intercepts: key, nonce, ciphertext</a:t>
            </a:r>
          </a:p>
          <a:p>
            <a:pPr algn="l">
              <a:lnSpc>
                <a:spcPts val="3231"/>
              </a:lnSpc>
            </a:pPr>
            <a:r>
              <a:rPr lang="en-US" sz="2025" spc="-4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Decrypts: plaintext = ASCON_decrypt(...)</a:t>
            </a:r>
          </a:p>
          <a:p>
            <a:pPr algn="l">
              <a:lnSpc>
                <a:spcPts val="3231"/>
              </a:lnSpc>
            </a:pPr>
            <a:r>
              <a:rPr lang="en-US" sz="2025" spc="-4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✗ ENTIRE COMMUNICATION COMPROMISED</a:t>
            </a:r>
          </a:p>
        </p:txBody>
      </p:sp>
      <p:grpSp>
        <p:nvGrpSpPr>
          <p:cNvPr id="11" name="Group 11"/>
          <p:cNvGrpSpPr/>
          <p:nvPr/>
        </p:nvGrpSpPr>
        <p:grpSpPr>
          <a:xfrm rot="-5400000">
            <a:off x="8642694" y="-432204"/>
            <a:ext cx="13875146" cy="9655921"/>
            <a:chOff x="0" y="0"/>
            <a:chExt cx="3654360" cy="25431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54360" cy="2543123"/>
            </a:xfrm>
            <a:custGeom>
              <a:avLst/>
              <a:gdLst/>
              <a:ahLst/>
              <a:cxnLst/>
              <a:rect l="l" t="t" r="r" b="b"/>
              <a:pathLst>
                <a:path w="3654360" h="2543123">
                  <a:moveTo>
                    <a:pt x="0" y="0"/>
                  </a:moveTo>
                  <a:lnTo>
                    <a:pt x="3654360" y="0"/>
                  </a:lnTo>
                  <a:lnTo>
                    <a:pt x="3654360" y="2543123"/>
                  </a:lnTo>
                  <a:lnTo>
                    <a:pt x="0" y="2543123"/>
                  </a:lnTo>
                  <a:close/>
                </a:path>
              </a:pathLst>
            </a:custGeom>
            <a:solidFill>
              <a:srgbClr val="2E509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3654360" cy="2609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764669" y="1813903"/>
            <a:ext cx="3698081" cy="45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 b="1" spc="-8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WHY THIS MATTERS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13804" y="3539923"/>
            <a:ext cx="6138710" cy="4285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6474" lvl="1" indent="-183237" algn="l">
              <a:lnSpc>
                <a:spcPts val="3110"/>
              </a:lnSpc>
              <a:buFont typeface="Arial"/>
              <a:buChar char="•"/>
            </a:pPr>
            <a:r>
              <a:rPr lang="en-US" sz="2025" spc="-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Violates core encryption principle: key must be secret</a:t>
            </a:r>
          </a:p>
          <a:p>
            <a:pPr algn="l">
              <a:lnSpc>
                <a:spcPts val="3110"/>
              </a:lnSpc>
            </a:pPr>
            <a:endParaRPr lang="en-US" sz="2025" spc="-4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66474" lvl="1" indent="-183237" algn="l">
              <a:lnSpc>
                <a:spcPts val="3110"/>
              </a:lnSpc>
              <a:buFont typeface="Arial"/>
              <a:buChar char="•"/>
            </a:pPr>
            <a:r>
              <a:rPr lang="en-US" sz="2025" spc="-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ASCON's 128-bit authenticated encryption is pointless if key is known</a:t>
            </a:r>
          </a:p>
          <a:p>
            <a:pPr algn="l">
              <a:lnSpc>
                <a:spcPts val="3110"/>
              </a:lnSpc>
            </a:pPr>
            <a:endParaRPr lang="en-US" sz="2025" spc="-4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66474" lvl="1" indent="-183237" algn="l">
              <a:lnSpc>
                <a:spcPts val="3110"/>
              </a:lnSpc>
              <a:buFont typeface="Arial"/>
              <a:buChar char="•"/>
            </a:pPr>
            <a:r>
              <a:rPr lang="en-US" sz="2025" spc="-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Real-world IoT deployments (smart factories, medical devices) use shared WiFi</a:t>
            </a:r>
          </a:p>
          <a:p>
            <a:pPr algn="l">
              <a:lnSpc>
                <a:spcPts val="3110"/>
              </a:lnSpc>
            </a:pPr>
            <a:endParaRPr lang="en-US" sz="2025" spc="-4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66474" lvl="1" indent="-183237" algn="l">
              <a:lnSpc>
                <a:spcPts val="3110"/>
              </a:lnSpc>
              <a:buFont typeface="Arial"/>
              <a:buChar char="•"/>
            </a:pPr>
            <a:r>
              <a:rPr lang="en-US" sz="2025" spc="-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Passive attacker (no active attack needed) defeats entire security model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5019" y="9360598"/>
            <a:ext cx="17217495" cy="47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0"/>
              </a:lnSpc>
            </a:pPr>
            <a:r>
              <a:rPr lang="en-US" sz="2025" spc="-4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2816185">
            <a:off x="16612351" y="-1996947"/>
            <a:ext cx="3870043" cy="3993895"/>
            <a:chOff x="0" y="0"/>
            <a:chExt cx="1019271" cy="1051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9271" cy="1051890"/>
            </a:xfrm>
            <a:custGeom>
              <a:avLst/>
              <a:gdLst/>
              <a:ahLst/>
              <a:cxnLst/>
              <a:rect l="l" t="t" r="r" b="b"/>
              <a:pathLst>
                <a:path w="1019271" h="1051890">
                  <a:moveTo>
                    <a:pt x="0" y="0"/>
                  </a:moveTo>
                  <a:lnTo>
                    <a:pt x="1019271" y="0"/>
                  </a:lnTo>
                  <a:lnTo>
                    <a:pt x="1019271" y="1051890"/>
                  </a:lnTo>
                  <a:lnTo>
                    <a:pt x="0" y="1051890"/>
                  </a:lnTo>
                  <a:close/>
                </a:path>
              </a:pathLst>
            </a:custGeom>
            <a:solidFill>
              <a:srgbClr val="2E509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019271" cy="1118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629603"/>
            <a:ext cx="15430673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000" b="1" spc="-152">
                <a:solidFill>
                  <a:srgbClr val="00008B"/>
                </a:solidFill>
                <a:latin typeface="Inter Bold"/>
                <a:ea typeface="Inter Bold"/>
                <a:cs typeface="Inter Bold"/>
                <a:sym typeface="Inter Bold"/>
              </a:rPr>
              <a:t> #1: ECDH Pre-Authentication Key Exchange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36975" y="2277037"/>
            <a:ext cx="6394725" cy="1034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4"/>
              </a:lnSpc>
            </a:pPr>
            <a:r>
              <a:rPr lang="en-US" sz="2700" b="1" spc="-4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Phase 1: Ephemeral ECDH Exchange (Curve25519)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36975" y="3606803"/>
            <a:ext cx="5258790" cy="193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1950" lvl="1" indent="-180975" algn="l">
              <a:lnSpc>
                <a:spcPts val="3144"/>
              </a:lnSpc>
              <a:buFont typeface="Arial"/>
              <a:buChar char="•"/>
            </a:pPr>
            <a:r>
              <a:rPr lang="en-US" sz="20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Client → Server: EC_public_key (32 bytes, unencrypted but authenticated)</a:t>
            </a:r>
          </a:p>
          <a:p>
            <a:pPr marL="361950" lvl="1" indent="-180975" algn="l">
              <a:lnSpc>
                <a:spcPts val="3144"/>
              </a:lnSpc>
              <a:buFont typeface="Arial"/>
              <a:buChar char="•"/>
            </a:pPr>
            <a:r>
              <a:rPr lang="en-US" sz="20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Server → Client: EC_public_key (32 bytes)</a:t>
            </a:r>
          </a:p>
          <a:p>
            <a:pPr marL="361950" lvl="1" indent="-180975" algn="l">
              <a:lnSpc>
                <a:spcPts val="3144"/>
              </a:lnSpc>
              <a:buFont typeface="Arial"/>
              <a:buChar char="•"/>
            </a:pPr>
            <a:r>
              <a:rPr lang="en-US" sz="20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Both compute: shared_secret = ECDH(private, peer_public)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40697" y="4313901"/>
            <a:ext cx="6118675" cy="50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4"/>
              </a:lnSpc>
            </a:pPr>
            <a:r>
              <a:rPr lang="en-US" sz="2700" b="1" spc="-4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Phase 2: Key Derivation (KDF)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40697" y="5279485"/>
            <a:ext cx="6227666" cy="762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1950" lvl="1" indent="-180975" algn="l">
              <a:lnSpc>
                <a:spcPts val="3144"/>
              </a:lnSpc>
              <a:buFont typeface="Arial"/>
              <a:buChar char="•"/>
            </a:pPr>
            <a:r>
              <a:rPr lang="en-US" sz="20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ASCON_key = HKDF-SHA256(shared_secret, info="ascon-key", length=16)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36975" y="6062765"/>
            <a:ext cx="5773540" cy="50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4"/>
              </a:lnSpc>
            </a:pPr>
            <a:r>
              <a:rPr lang="en-US" sz="2700" b="1" spc="-4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Phase 3: Authenticated Encryption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36975" y="7106781"/>
            <a:ext cx="5773540" cy="193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1950" lvl="1" indent="-180975" algn="l">
              <a:lnSpc>
                <a:spcPts val="3144"/>
              </a:lnSpc>
              <a:buFont typeface="Arial"/>
              <a:buChar char="•"/>
            </a:pPr>
            <a:r>
              <a:rPr lang="en-US" sz="20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Client → Server: ASCON_encrypt(plaintext, ASCON_key, nonce)</a:t>
            </a:r>
          </a:p>
          <a:p>
            <a:pPr marL="361950" lvl="1" indent="-180975" algn="l">
              <a:lnSpc>
                <a:spcPts val="3144"/>
              </a:lnSpc>
              <a:buFont typeface="Arial"/>
              <a:buChar char="•"/>
            </a:pPr>
            <a:r>
              <a:rPr lang="en-US" sz="20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Key is NEVER transmitted; derived from DH exchange</a:t>
            </a:r>
          </a:p>
          <a:p>
            <a:pPr marL="361950" lvl="1" indent="-180975" algn="l">
              <a:lnSpc>
                <a:spcPts val="3144"/>
              </a:lnSpc>
              <a:buFont typeface="Arial"/>
              <a:buChar char="•"/>
            </a:pPr>
            <a:r>
              <a:rPr lang="en-US" sz="2000" spc="-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Each session has unique key (ephemeral DH)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5253" y="9329642"/>
            <a:ext cx="17217495" cy="50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1"/>
              </a:lnSpc>
            </a:pPr>
            <a:r>
              <a:rPr lang="en-US" sz="2100" spc="-43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Slide 7</a:t>
            </a:r>
          </a:p>
        </p:txBody>
      </p:sp>
      <p:grpSp>
        <p:nvGrpSpPr>
          <p:cNvPr id="17" name="Group 17"/>
          <p:cNvGrpSpPr/>
          <p:nvPr/>
        </p:nvGrpSpPr>
        <p:grpSpPr>
          <a:xfrm rot="2617403">
            <a:off x="-1543050" y="8750572"/>
            <a:ext cx="3086100" cy="308610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E509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201900" y="-66818"/>
            <a:ext cx="3086100" cy="10915218"/>
            <a:chOff x="0" y="0"/>
            <a:chExt cx="812800" cy="28747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2874790"/>
            </a:xfrm>
            <a:custGeom>
              <a:avLst/>
              <a:gdLst/>
              <a:ahLst/>
              <a:cxnLst/>
              <a:rect l="l" t="t" r="r" b="b"/>
              <a:pathLst>
                <a:path w="812800" h="2874790">
                  <a:moveTo>
                    <a:pt x="0" y="0"/>
                  </a:moveTo>
                  <a:lnTo>
                    <a:pt x="812800" y="0"/>
                  </a:lnTo>
                  <a:lnTo>
                    <a:pt x="812800" y="2874790"/>
                  </a:lnTo>
                  <a:lnTo>
                    <a:pt x="0" y="2874790"/>
                  </a:lnTo>
                  <a:close/>
                </a:path>
              </a:pathLst>
            </a:custGeom>
            <a:solidFill>
              <a:srgbClr val="2E509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812800" cy="2941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630707"/>
            <a:ext cx="14764384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000" b="1" spc="-150">
                <a:solidFill>
                  <a:srgbClr val="00008B"/>
                </a:solidFill>
                <a:latin typeface="Inter Bold"/>
                <a:ea typeface="Inter Bold"/>
                <a:cs typeface="Inter Bold"/>
                <a:sym typeface="Inter Bold"/>
              </a:rPr>
              <a:t> #2: CupCarbon Multi-Node Scaling Study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10" y="2505227"/>
            <a:ext cx="17217495" cy="511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sz="2700" b="1" spc="-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Star Topology (Gateway Decryption)        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10" y="3162157"/>
            <a:ext cx="16303114" cy="1559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5581" lvl="2" indent="-278527" algn="l">
              <a:lnSpc>
                <a:spcPts val="3471"/>
              </a:lnSpc>
              <a:buFont typeface="Arial"/>
              <a:buChar char="⚬"/>
            </a:pPr>
            <a:r>
              <a:rPr lang="en-US" sz="217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 nodes (5, 10, 25, 50, 100) send encrypted data to central gateway</a:t>
            </a:r>
          </a:p>
          <a:p>
            <a:pPr marL="835581" lvl="2" indent="-278527" algn="l">
              <a:lnSpc>
                <a:spcPts val="3471"/>
              </a:lnSpc>
              <a:buFont typeface="Arial"/>
              <a:buChar char="⚬"/>
            </a:pPr>
            <a:r>
              <a:rPr lang="en-US" sz="217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Gateway decrypts all inbound traffic</a:t>
            </a:r>
          </a:p>
          <a:p>
            <a:pPr marL="835581" lvl="2" indent="-278527" algn="l">
              <a:lnSpc>
                <a:spcPts val="3471"/>
              </a:lnSpc>
              <a:buFont typeface="Arial"/>
              <a:buChar char="⚬"/>
            </a:pPr>
            <a:r>
              <a:rPr lang="en-US" sz="217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Measure: Decryption queue depth, CPU %, latency tail (p99)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10" y="4716218"/>
            <a:ext cx="7081421" cy="511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sz="2700" b="1" spc="-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Mesh Topology (Per-node Decryption)       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10" y="5373148"/>
            <a:ext cx="16303114" cy="1006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5581" lvl="2" indent="-278527" algn="l">
              <a:lnSpc>
                <a:spcPts val="3471"/>
              </a:lnSpc>
              <a:buFont typeface="Arial"/>
              <a:buChar char="⚬"/>
            </a:pPr>
            <a:r>
              <a:rPr lang="en-US" sz="217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Nodes route encrypted packets; each node decrypts and re-encrypts</a:t>
            </a:r>
          </a:p>
          <a:p>
            <a:pPr marL="835581" lvl="2" indent="-278527" algn="l">
              <a:lnSpc>
                <a:spcPts val="3471"/>
              </a:lnSpc>
              <a:buFont typeface="Arial"/>
              <a:buChar char="⚬"/>
            </a:pPr>
            <a:r>
              <a:rPr lang="en-US" sz="217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Measure: Per-node resource utilization, end-to-end latency distribution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10" y="6374454"/>
            <a:ext cx="17217495" cy="511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sz="2700" b="1" spc="-5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Scalability Threshold        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10" y="7031393"/>
            <a:ext cx="16303114" cy="40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5581" lvl="2" indent="-278527" algn="l">
              <a:lnSpc>
                <a:spcPts val="3471"/>
              </a:lnSpc>
              <a:buFont typeface="Arial"/>
              <a:buChar char="⚬"/>
            </a:pPr>
            <a:r>
              <a:rPr lang="en-US" sz="2175" spc="-45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Identify: At what N does gateway throughput saturate?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5019" y="9308659"/>
            <a:ext cx="17217495" cy="529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2175" spc="-4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35019" y="2428417"/>
            <a:ext cx="10766003" cy="6453600"/>
            <a:chOff x="0" y="0"/>
            <a:chExt cx="11804752" cy="707626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1804777" cy="7076282"/>
            </a:xfrm>
            <a:custGeom>
              <a:avLst/>
              <a:gdLst/>
              <a:ahLst/>
              <a:cxnLst/>
              <a:rect l="l" t="t" r="r" b="b"/>
              <a:pathLst>
                <a:path w="11804777" h="7076282">
                  <a:moveTo>
                    <a:pt x="0" y="0"/>
                  </a:moveTo>
                  <a:lnTo>
                    <a:pt x="11804777" y="0"/>
                  </a:lnTo>
                  <a:lnTo>
                    <a:pt x="11804777" y="7076282"/>
                  </a:lnTo>
                  <a:lnTo>
                    <a:pt x="0" y="7076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296" r="-329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3676675" y="-1104287"/>
            <a:ext cx="1741889" cy="3086100"/>
            <a:chOff x="0" y="0"/>
            <a:chExt cx="45876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8769" cy="812800"/>
            </a:xfrm>
            <a:custGeom>
              <a:avLst/>
              <a:gdLst/>
              <a:ahLst/>
              <a:cxnLst/>
              <a:rect l="l" t="t" r="r" b="b"/>
              <a:pathLst>
                <a:path w="458769" h="812800">
                  <a:moveTo>
                    <a:pt x="0" y="0"/>
                  </a:moveTo>
                  <a:lnTo>
                    <a:pt x="458769" y="0"/>
                  </a:lnTo>
                  <a:lnTo>
                    <a:pt x="45876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3A7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458769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92210" y="831647"/>
            <a:ext cx="16303114" cy="891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2"/>
              </a:lnSpc>
            </a:pPr>
            <a:r>
              <a:rPr lang="en-US" sz="5475" b="1" spc="-165">
                <a:solidFill>
                  <a:srgbClr val="00008B"/>
                </a:solidFill>
                <a:latin typeface="Inter Bold"/>
                <a:ea typeface="Inter Bold"/>
                <a:cs typeface="Inter Bold"/>
                <a:sym typeface="Inter Bold"/>
              </a:rPr>
              <a:t>Progress So Far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99894" y="2352217"/>
            <a:ext cx="6095452" cy="5970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621" lvl="1" indent="-196810" algn="l">
              <a:lnSpc>
                <a:spcPts val="3445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Literature review: 5+ papers on ASCON, IoT cryptography, key agreement</a:t>
            </a:r>
          </a:p>
          <a:p>
            <a:pPr algn="l">
              <a:lnSpc>
                <a:spcPts val="3445"/>
              </a:lnSpc>
            </a:pPr>
            <a:endParaRPr lang="en-US" sz="2175" spc="-43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3621" lvl="1" indent="-196810" algn="l">
              <a:lnSpc>
                <a:spcPts val="3445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Identified research gaps (Gap #1: key exchange, Gap #2: multi-node scaling)</a:t>
            </a:r>
          </a:p>
          <a:p>
            <a:pPr algn="l">
              <a:lnSpc>
                <a:spcPts val="3445"/>
              </a:lnSpc>
            </a:pPr>
            <a:endParaRPr lang="en-US" sz="2175" spc="-43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3621" lvl="1" indent="-196810" algn="l">
              <a:lnSpc>
                <a:spcPts val="3445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Analyzed original paper's code (Listings 1-14); documented vulnerability</a:t>
            </a:r>
          </a:p>
          <a:p>
            <a:pPr algn="l">
              <a:lnSpc>
                <a:spcPts val="3445"/>
              </a:lnSpc>
            </a:pPr>
            <a:endParaRPr lang="en-US" sz="2175" spc="-43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3621" lvl="1" indent="-196810" algn="l">
              <a:lnSpc>
                <a:spcPts val="3445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Designed ECDH + ASCON integration architecture</a:t>
            </a:r>
          </a:p>
          <a:p>
            <a:pPr algn="l">
              <a:lnSpc>
                <a:spcPts val="3445"/>
              </a:lnSpc>
            </a:pPr>
            <a:endParaRPr lang="en-US" sz="2175" spc="-43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3621" lvl="1" indent="-196810" algn="l">
              <a:lnSpc>
                <a:spcPts val="3445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Set up development environment: Python 3.11, cryptography library, Raspberry Pi toolchain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5019" y="9511398"/>
            <a:ext cx="17217495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2175" spc="-43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Slide 9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676675" y="8656471"/>
            <a:ext cx="1741889" cy="3086100"/>
            <a:chOff x="0" y="0"/>
            <a:chExt cx="458769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8769" cy="812800"/>
            </a:xfrm>
            <a:custGeom>
              <a:avLst/>
              <a:gdLst/>
              <a:ahLst/>
              <a:cxnLst/>
              <a:rect l="l" t="t" r="r" b="b"/>
              <a:pathLst>
                <a:path w="458769" h="812800">
                  <a:moveTo>
                    <a:pt x="0" y="0"/>
                  </a:moveTo>
                  <a:lnTo>
                    <a:pt x="458769" y="0"/>
                  </a:lnTo>
                  <a:lnTo>
                    <a:pt x="45876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3A7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458769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199235" y="2228521"/>
            <a:ext cx="10070588" cy="5627576"/>
            <a:chOff x="0" y="0"/>
            <a:chExt cx="2652336" cy="14821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52336" cy="1482160"/>
            </a:xfrm>
            <a:custGeom>
              <a:avLst/>
              <a:gdLst/>
              <a:ahLst/>
              <a:cxnLst/>
              <a:rect l="l" t="t" r="r" b="b"/>
              <a:pathLst>
                <a:path w="2652336" h="1482160">
                  <a:moveTo>
                    <a:pt x="0" y="0"/>
                  </a:moveTo>
                  <a:lnTo>
                    <a:pt x="2652336" y="0"/>
                  </a:lnTo>
                  <a:lnTo>
                    <a:pt x="2652336" y="1482160"/>
                  </a:lnTo>
                  <a:lnTo>
                    <a:pt x="0" y="1482160"/>
                  </a:lnTo>
                  <a:close/>
                </a:path>
              </a:pathLst>
            </a:custGeom>
            <a:solidFill>
              <a:srgbClr val="656EA7">
                <a:alpha val="4000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652336" cy="1548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199235" y="2483568"/>
            <a:ext cx="9647738" cy="4892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8145" lvl="1" indent="-199072" algn="l">
              <a:lnSpc>
                <a:spcPts val="3511"/>
              </a:lnSpc>
              <a:buFont typeface="Arial"/>
              <a:buChar char="•"/>
            </a:pPr>
            <a:r>
              <a:rPr lang="en-US" sz="2199" spc="-45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Network timing variability in </a:t>
            </a:r>
            <a:r>
              <a:rPr lang="en-US" sz="2199" spc="-45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CupCarbon</a:t>
            </a:r>
            <a:r>
              <a:rPr lang="en-US" sz="2199" spc="-45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simulator</a:t>
            </a:r>
          </a:p>
          <a:p>
            <a:pPr marL="845184" lvl="2" indent="-281728" algn="l">
              <a:lnSpc>
                <a:spcPts val="3511"/>
              </a:lnSpc>
              <a:buFont typeface="Arial"/>
              <a:buChar char="⚬"/>
            </a:pPr>
            <a:r>
              <a:rPr lang="en-US" sz="2199" spc="-4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Solution: Run 100+ samples per configuration; use statistical analysis (mean ± σ)</a:t>
            </a:r>
          </a:p>
          <a:p>
            <a:pPr algn="l">
              <a:lnSpc>
                <a:spcPts val="3511"/>
              </a:lnSpc>
            </a:pPr>
            <a:endParaRPr lang="en-US" sz="2199" spc="-43" dirty="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8145" lvl="1" indent="-199072" algn="l">
              <a:lnSpc>
                <a:spcPts val="3511"/>
              </a:lnSpc>
              <a:buFont typeface="Arial"/>
              <a:buChar char="•"/>
            </a:pPr>
            <a:r>
              <a:rPr lang="en-US" sz="2199" spc="-45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Raspberry Pi resource constraints</a:t>
            </a:r>
          </a:p>
          <a:p>
            <a:pPr marL="845184" lvl="2" indent="-281728" algn="l">
              <a:lnSpc>
                <a:spcPts val="3511"/>
              </a:lnSpc>
              <a:buFont typeface="Arial"/>
              <a:buChar char="⚬"/>
            </a:pPr>
            <a:r>
              <a:rPr lang="en-US" sz="2199" spc="-45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Limited RAM (512 MB); key exchange libraries may add overhead</a:t>
            </a:r>
          </a:p>
          <a:p>
            <a:pPr marL="845184" lvl="2" indent="-281728" algn="l">
              <a:lnSpc>
                <a:spcPts val="3511"/>
              </a:lnSpc>
              <a:buFont typeface="Arial"/>
              <a:buChar char="⚬"/>
            </a:pPr>
            <a:r>
              <a:rPr lang="en-US" sz="2199" spc="-43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Mitigation: Use lightweight crypto library; profile memory usage</a:t>
            </a:r>
          </a:p>
          <a:p>
            <a:pPr algn="l">
              <a:lnSpc>
                <a:spcPts val="3511"/>
              </a:lnSpc>
            </a:pPr>
            <a:endParaRPr lang="en-US" sz="2199" spc="-43" dirty="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8145" lvl="1" indent="-199072" algn="l">
              <a:lnSpc>
                <a:spcPts val="3511"/>
              </a:lnSpc>
              <a:buFont typeface="Arial"/>
              <a:buChar char="•"/>
            </a:pPr>
            <a:r>
              <a:rPr lang="en-US" sz="2199" spc="-45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Multi-node </a:t>
            </a:r>
            <a:r>
              <a:rPr lang="en-US" sz="2199" spc="-45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CupCarbon</a:t>
            </a:r>
            <a:r>
              <a:rPr lang="en-US" sz="2199" spc="-45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stability at 100 nodes</a:t>
            </a:r>
          </a:p>
          <a:p>
            <a:pPr marL="845184" lvl="2" indent="-281728" algn="l">
              <a:lnSpc>
                <a:spcPts val="3511"/>
              </a:lnSpc>
              <a:buFont typeface="Arial"/>
              <a:buChar char="⚬"/>
            </a:pPr>
            <a:r>
              <a:rPr lang="en-US" sz="2199" spc="-45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Simulator may become unresponsive</a:t>
            </a:r>
          </a:p>
          <a:p>
            <a:pPr marL="845184" lvl="2" indent="-281728" algn="l">
              <a:lnSpc>
                <a:spcPts val="3511"/>
              </a:lnSpc>
              <a:buFont typeface="Arial"/>
              <a:buChar char="⚬"/>
            </a:pPr>
            <a:r>
              <a:rPr lang="en-US" sz="2199" spc="-45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Mitigation: Incremental scaling (10 → 25 → 50 → 100)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-791406" y="3600450"/>
            <a:ext cx="4990641" cy="3086100"/>
            <a:chOff x="0" y="0"/>
            <a:chExt cx="1314408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14408" cy="812800"/>
            </a:xfrm>
            <a:custGeom>
              <a:avLst/>
              <a:gdLst/>
              <a:ahLst/>
              <a:cxnLst/>
              <a:rect l="l" t="t" r="r" b="b"/>
              <a:pathLst>
                <a:path w="1314408" h="812800">
                  <a:moveTo>
                    <a:pt x="0" y="0"/>
                  </a:moveTo>
                  <a:lnTo>
                    <a:pt x="1314408" y="0"/>
                  </a:lnTo>
                  <a:lnTo>
                    <a:pt x="131440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E509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314408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92210" y="629603"/>
            <a:ext cx="5463282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5000" b="1" spc="-151">
                <a:solidFill>
                  <a:srgbClr val="00008B"/>
                </a:solidFill>
                <a:latin typeface="Inter Bold"/>
                <a:ea typeface="Inter Bold"/>
                <a:cs typeface="Inter Bold"/>
                <a:sym typeface="Inter Bold"/>
              </a:rPr>
              <a:t>Challenges &amp; Risks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5253" y="9500683"/>
            <a:ext cx="17217495" cy="529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2175" spc="-4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Slide 10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269823" y="3600450"/>
            <a:ext cx="4990641" cy="3086100"/>
            <a:chOff x="0" y="0"/>
            <a:chExt cx="1314408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14408" cy="812800"/>
            </a:xfrm>
            <a:custGeom>
              <a:avLst/>
              <a:gdLst/>
              <a:ahLst/>
              <a:cxnLst/>
              <a:rect l="l" t="t" r="r" b="b"/>
              <a:pathLst>
                <a:path w="1314408" h="812800">
                  <a:moveTo>
                    <a:pt x="0" y="0"/>
                  </a:moveTo>
                  <a:lnTo>
                    <a:pt x="1314408" y="0"/>
                  </a:lnTo>
                  <a:lnTo>
                    <a:pt x="131440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E509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314408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2085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380870" y="4051573"/>
            <a:ext cx="654269" cy="3086100"/>
            <a:chOff x="0" y="0"/>
            <a:chExt cx="172318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2318" cy="812800"/>
            </a:xfrm>
            <a:custGeom>
              <a:avLst/>
              <a:gdLst/>
              <a:ahLst/>
              <a:cxnLst/>
              <a:rect l="l" t="t" r="r" b="b"/>
              <a:pathLst>
                <a:path w="172318" h="812800">
                  <a:moveTo>
                    <a:pt x="0" y="0"/>
                  </a:moveTo>
                  <a:lnTo>
                    <a:pt x="172318" y="0"/>
                  </a:lnTo>
                  <a:lnTo>
                    <a:pt x="1723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3A7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72318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10" y="1881063"/>
            <a:ext cx="4851298" cy="3086100"/>
            <a:chOff x="0" y="0"/>
            <a:chExt cx="1277708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7708" cy="812800"/>
            </a:xfrm>
            <a:custGeom>
              <a:avLst/>
              <a:gdLst/>
              <a:ahLst/>
              <a:cxnLst/>
              <a:rect l="l" t="t" r="r" b="b"/>
              <a:pathLst>
                <a:path w="1277708" h="812800">
                  <a:moveTo>
                    <a:pt x="79792" y="0"/>
                  </a:moveTo>
                  <a:lnTo>
                    <a:pt x="1197916" y="0"/>
                  </a:lnTo>
                  <a:cubicBezTo>
                    <a:pt x="1241984" y="0"/>
                    <a:pt x="1277708" y="35724"/>
                    <a:pt x="1277708" y="79792"/>
                  </a:cubicBezTo>
                  <a:lnTo>
                    <a:pt x="1277708" y="733008"/>
                  </a:lnTo>
                  <a:cubicBezTo>
                    <a:pt x="1277708" y="777076"/>
                    <a:pt x="1241984" y="812800"/>
                    <a:pt x="1197916" y="812800"/>
                  </a:cubicBezTo>
                  <a:lnTo>
                    <a:pt x="79792" y="812800"/>
                  </a:lnTo>
                  <a:cubicBezTo>
                    <a:pt x="35724" y="812800"/>
                    <a:pt x="0" y="777076"/>
                    <a:pt x="0" y="733008"/>
                  </a:cubicBezTo>
                  <a:lnTo>
                    <a:pt x="0" y="79792"/>
                  </a:lnTo>
                  <a:cubicBezTo>
                    <a:pt x="0" y="35724"/>
                    <a:pt x="35724" y="0"/>
                    <a:pt x="79792" y="0"/>
                  </a:cubicBezTo>
                  <a:close/>
                </a:path>
              </a:pathLst>
            </a:custGeom>
            <a:solidFill>
              <a:srgbClr val="2E509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277708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7433265" y="5690137"/>
            <a:ext cx="654269" cy="2088306"/>
            <a:chOff x="0" y="0"/>
            <a:chExt cx="172318" cy="5500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2318" cy="550006"/>
            </a:xfrm>
            <a:custGeom>
              <a:avLst/>
              <a:gdLst/>
              <a:ahLst/>
              <a:cxnLst/>
              <a:rect l="l" t="t" r="r" b="b"/>
              <a:pathLst>
                <a:path w="172318" h="550006">
                  <a:moveTo>
                    <a:pt x="0" y="0"/>
                  </a:moveTo>
                  <a:lnTo>
                    <a:pt x="172318" y="0"/>
                  </a:lnTo>
                  <a:lnTo>
                    <a:pt x="172318" y="550006"/>
                  </a:lnTo>
                  <a:lnTo>
                    <a:pt x="0" y="550006"/>
                  </a:lnTo>
                  <a:close/>
                </a:path>
              </a:pathLst>
            </a:custGeom>
            <a:solidFill>
              <a:srgbClr val="313A7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72318" cy="616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745535" y="6407156"/>
            <a:ext cx="4851298" cy="3086100"/>
            <a:chOff x="0" y="0"/>
            <a:chExt cx="1277708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77708" cy="812800"/>
            </a:xfrm>
            <a:custGeom>
              <a:avLst/>
              <a:gdLst/>
              <a:ahLst/>
              <a:cxnLst/>
              <a:rect l="l" t="t" r="r" b="b"/>
              <a:pathLst>
                <a:path w="1277708" h="812800">
                  <a:moveTo>
                    <a:pt x="79792" y="0"/>
                  </a:moveTo>
                  <a:lnTo>
                    <a:pt x="1197916" y="0"/>
                  </a:lnTo>
                  <a:cubicBezTo>
                    <a:pt x="1241984" y="0"/>
                    <a:pt x="1277708" y="35724"/>
                    <a:pt x="1277708" y="79792"/>
                  </a:cubicBezTo>
                  <a:lnTo>
                    <a:pt x="1277708" y="733008"/>
                  </a:lnTo>
                  <a:cubicBezTo>
                    <a:pt x="1277708" y="777076"/>
                    <a:pt x="1241984" y="812800"/>
                    <a:pt x="1197916" y="812800"/>
                  </a:cubicBezTo>
                  <a:lnTo>
                    <a:pt x="79792" y="812800"/>
                  </a:lnTo>
                  <a:cubicBezTo>
                    <a:pt x="35724" y="812800"/>
                    <a:pt x="0" y="777076"/>
                    <a:pt x="0" y="733008"/>
                  </a:cubicBezTo>
                  <a:lnTo>
                    <a:pt x="0" y="79792"/>
                  </a:lnTo>
                  <a:cubicBezTo>
                    <a:pt x="0" y="35724"/>
                    <a:pt x="35724" y="0"/>
                    <a:pt x="79792" y="0"/>
                  </a:cubicBezTo>
                  <a:close/>
                </a:path>
              </a:pathLst>
            </a:custGeom>
            <a:solidFill>
              <a:srgbClr val="2E509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277708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9423034" y="3759443"/>
            <a:ext cx="654269" cy="1761171"/>
            <a:chOff x="0" y="0"/>
            <a:chExt cx="172318" cy="4638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2318" cy="463848"/>
            </a:xfrm>
            <a:custGeom>
              <a:avLst/>
              <a:gdLst/>
              <a:ahLst/>
              <a:cxnLst/>
              <a:rect l="l" t="t" r="r" b="b"/>
              <a:pathLst>
                <a:path w="172318" h="463848">
                  <a:moveTo>
                    <a:pt x="0" y="0"/>
                  </a:moveTo>
                  <a:lnTo>
                    <a:pt x="172318" y="0"/>
                  </a:lnTo>
                  <a:lnTo>
                    <a:pt x="172318" y="463848"/>
                  </a:lnTo>
                  <a:lnTo>
                    <a:pt x="0" y="463848"/>
                  </a:lnTo>
                  <a:close/>
                </a:path>
              </a:pathLst>
            </a:custGeom>
            <a:solidFill>
              <a:srgbClr val="313A7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172318" cy="530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656830" y="4051573"/>
            <a:ext cx="654269" cy="3086100"/>
            <a:chOff x="0" y="0"/>
            <a:chExt cx="172318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2318" cy="812800"/>
            </a:xfrm>
            <a:custGeom>
              <a:avLst/>
              <a:gdLst/>
              <a:ahLst/>
              <a:cxnLst/>
              <a:rect l="l" t="t" r="r" b="b"/>
              <a:pathLst>
                <a:path w="172318" h="812800">
                  <a:moveTo>
                    <a:pt x="0" y="0"/>
                  </a:moveTo>
                  <a:lnTo>
                    <a:pt x="172318" y="0"/>
                  </a:lnTo>
                  <a:lnTo>
                    <a:pt x="1723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3A7D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172318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82665" y="1881063"/>
            <a:ext cx="4851298" cy="3086100"/>
            <a:chOff x="0" y="0"/>
            <a:chExt cx="1277708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77708" cy="812800"/>
            </a:xfrm>
            <a:custGeom>
              <a:avLst/>
              <a:gdLst/>
              <a:ahLst/>
              <a:cxnLst/>
              <a:rect l="l" t="t" r="r" b="b"/>
              <a:pathLst>
                <a:path w="1277708" h="812800">
                  <a:moveTo>
                    <a:pt x="79792" y="0"/>
                  </a:moveTo>
                  <a:lnTo>
                    <a:pt x="1197916" y="0"/>
                  </a:lnTo>
                  <a:cubicBezTo>
                    <a:pt x="1241984" y="0"/>
                    <a:pt x="1277708" y="35724"/>
                    <a:pt x="1277708" y="79792"/>
                  </a:cubicBezTo>
                  <a:lnTo>
                    <a:pt x="1277708" y="733008"/>
                  </a:lnTo>
                  <a:cubicBezTo>
                    <a:pt x="1277708" y="777076"/>
                    <a:pt x="1241984" y="812800"/>
                    <a:pt x="1197916" y="812800"/>
                  </a:cubicBezTo>
                  <a:lnTo>
                    <a:pt x="79792" y="812800"/>
                  </a:lnTo>
                  <a:cubicBezTo>
                    <a:pt x="35724" y="812800"/>
                    <a:pt x="0" y="777076"/>
                    <a:pt x="0" y="733008"/>
                  </a:cubicBezTo>
                  <a:lnTo>
                    <a:pt x="0" y="79792"/>
                  </a:lnTo>
                  <a:cubicBezTo>
                    <a:pt x="0" y="35724"/>
                    <a:pt x="35724" y="0"/>
                    <a:pt x="79792" y="0"/>
                  </a:cubicBezTo>
                  <a:close/>
                </a:path>
              </a:pathLst>
            </a:custGeom>
            <a:solidFill>
              <a:srgbClr val="2E509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1277708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108314" y="6289757"/>
            <a:ext cx="4851298" cy="3086100"/>
            <a:chOff x="0" y="0"/>
            <a:chExt cx="1277708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77708" cy="812800"/>
            </a:xfrm>
            <a:custGeom>
              <a:avLst/>
              <a:gdLst/>
              <a:ahLst/>
              <a:cxnLst/>
              <a:rect l="l" t="t" r="r" b="b"/>
              <a:pathLst>
                <a:path w="1277708" h="812800">
                  <a:moveTo>
                    <a:pt x="79792" y="0"/>
                  </a:moveTo>
                  <a:lnTo>
                    <a:pt x="1197916" y="0"/>
                  </a:lnTo>
                  <a:cubicBezTo>
                    <a:pt x="1241984" y="0"/>
                    <a:pt x="1277708" y="35724"/>
                    <a:pt x="1277708" y="79792"/>
                  </a:cubicBezTo>
                  <a:lnTo>
                    <a:pt x="1277708" y="733008"/>
                  </a:lnTo>
                  <a:cubicBezTo>
                    <a:pt x="1277708" y="777076"/>
                    <a:pt x="1241984" y="812800"/>
                    <a:pt x="1197916" y="812800"/>
                  </a:cubicBezTo>
                  <a:lnTo>
                    <a:pt x="79792" y="812800"/>
                  </a:lnTo>
                  <a:cubicBezTo>
                    <a:pt x="35724" y="812800"/>
                    <a:pt x="0" y="777076"/>
                    <a:pt x="0" y="733008"/>
                  </a:cubicBezTo>
                  <a:lnTo>
                    <a:pt x="0" y="79792"/>
                  </a:lnTo>
                  <a:cubicBezTo>
                    <a:pt x="0" y="35724"/>
                    <a:pt x="35724" y="0"/>
                    <a:pt x="79792" y="0"/>
                  </a:cubicBezTo>
                  <a:close/>
                </a:path>
              </a:pathLst>
            </a:custGeom>
            <a:solidFill>
              <a:srgbClr val="2E5090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1277708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-885503" y="561841"/>
            <a:ext cx="19380111" cy="813739"/>
            <a:chOff x="0" y="0"/>
            <a:chExt cx="5104227" cy="21431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104227" cy="214318"/>
            </a:xfrm>
            <a:custGeom>
              <a:avLst/>
              <a:gdLst/>
              <a:ahLst/>
              <a:cxnLst/>
              <a:rect l="l" t="t" r="r" b="b"/>
              <a:pathLst>
                <a:path w="5104227" h="214318">
                  <a:moveTo>
                    <a:pt x="0" y="0"/>
                  </a:moveTo>
                  <a:lnTo>
                    <a:pt x="5104227" y="0"/>
                  </a:lnTo>
                  <a:lnTo>
                    <a:pt x="5104227" y="214318"/>
                  </a:lnTo>
                  <a:lnTo>
                    <a:pt x="0" y="214318"/>
                  </a:lnTo>
                  <a:close/>
                </a:path>
              </a:pathLst>
            </a:custGeom>
            <a:solidFill>
              <a:srgbClr val="313A7D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5104227" cy="280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2140" y="605961"/>
            <a:ext cx="6517459" cy="69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4425" b="1" spc="-13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Work flow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8700" y="2140143"/>
            <a:ext cx="4577116" cy="2520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1950" lvl="1" indent="-180975" algn="l">
              <a:lnSpc>
                <a:spcPts val="2880"/>
              </a:lnSpc>
              <a:buFont typeface="Arial"/>
              <a:buChar char="•"/>
            </a:pPr>
            <a:r>
              <a:rPr lang="en-US" sz="2000" spc="-4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Complete ECDH X25519 implementation in Python</a:t>
            </a:r>
          </a:p>
          <a:p>
            <a:pPr marL="361950" lvl="1" indent="-180975" algn="l">
              <a:lnSpc>
                <a:spcPts val="2880"/>
              </a:lnSpc>
              <a:buFont typeface="Arial"/>
              <a:buChar char="•"/>
            </a:pPr>
            <a:r>
              <a:rPr lang="en-US" sz="2000" spc="-4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Set up Raspberry Pi for benchmarking</a:t>
            </a:r>
          </a:p>
          <a:p>
            <a:pPr marL="361950" lvl="1" indent="-180975" algn="l">
              <a:lnSpc>
                <a:spcPts val="2880"/>
              </a:lnSpc>
              <a:buFont typeface="Arial"/>
              <a:buChar char="•"/>
            </a:pPr>
            <a:r>
              <a:rPr lang="en-US" sz="2000" spc="-4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Obtain baseline latency measurements (plaintext key method)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751377" y="6847211"/>
            <a:ext cx="4845456" cy="2199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1950" lvl="1" indent="-180975" algn="l">
              <a:lnSpc>
                <a:spcPts val="2880"/>
              </a:lnSpc>
              <a:buFont typeface="Arial"/>
              <a:buChar char="•"/>
            </a:pPr>
            <a:r>
              <a:rPr lang="en-US" sz="2000" spc="-4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Integrate ECDH with existing ASCON code (Listings 13-14</a:t>
            </a:r>
          </a:p>
          <a:p>
            <a:pPr marL="361950" lvl="1" indent="-180975" algn="l">
              <a:lnSpc>
                <a:spcPts val="2880"/>
              </a:lnSpc>
              <a:buFont typeface="Arial"/>
              <a:buChar char="•"/>
            </a:pPr>
            <a:r>
              <a:rPr lang="en-US" sz="2000" spc="-4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Run 50+ iterations; collect statistical data</a:t>
            </a:r>
          </a:p>
          <a:p>
            <a:pPr marL="361950" lvl="1" indent="-180975" algn="l">
              <a:lnSpc>
                <a:spcPts val="2880"/>
              </a:lnSpc>
              <a:buFont typeface="Arial"/>
              <a:buChar char="•"/>
            </a:pPr>
            <a:r>
              <a:rPr lang="en-US" sz="2000" spc="-4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Begin </a:t>
            </a:r>
            <a:r>
              <a:rPr lang="en-US" sz="2000" spc="-41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CupCarbon</a:t>
            </a:r>
            <a:r>
              <a:rPr lang="en-US" sz="2000" spc="-4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test harness development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827849" y="2321118"/>
            <a:ext cx="4560930" cy="215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1950" lvl="1" indent="-180975" algn="l">
              <a:lnSpc>
                <a:spcPts val="2880"/>
              </a:lnSpc>
              <a:buFont typeface="Arial"/>
              <a:buChar char="•"/>
            </a:pPr>
            <a:r>
              <a:rPr lang="en-US" sz="2000" spc="-4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Validate correctness (decrypted plaintext matches original)</a:t>
            </a:r>
          </a:p>
          <a:p>
            <a:pPr marL="361950" lvl="1" indent="-180975" algn="l">
              <a:lnSpc>
                <a:spcPts val="2880"/>
              </a:lnSpc>
              <a:buFont typeface="Arial"/>
              <a:buChar char="•"/>
            </a:pPr>
            <a:r>
              <a:rPr lang="en-US" sz="2000" spc="-4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Measure memory footprint on Pi Zero W</a:t>
            </a:r>
          </a:p>
          <a:p>
            <a:pPr marL="361950" lvl="1" indent="-180975" algn="l">
              <a:lnSpc>
                <a:spcPts val="2880"/>
              </a:lnSpc>
              <a:buFont typeface="Arial"/>
              <a:buChar char="•"/>
            </a:pPr>
            <a:r>
              <a:rPr lang="en-US" sz="2000" spc="-4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Deploy 10-node CupCarbon simulation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275791" y="6729812"/>
            <a:ext cx="4516344" cy="215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1950" lvl="1" indent="-180975" algn="l">
              <a:lnSpc>
                <a:spcPts val="2880"/>
              </a:lnSpc>
              <a:buFont typeface="Arial"/>
              <a:buChar char="•"/>
            </a:pPr>
            <a:r>
              <a:rPr lang="en-US" sz="2000" spc="-4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Scale to 50, 100 nodes in CupCarbon</a:t>
            </a:r>
          </a:p>
          <a:p>
            <a:pPr marL="361950" lvl="1" indent="-180975" algn="l">
              <a:lnSpc>
                <a:spcPts val="2880"/>
              </a:lnSpc>
              <a:buFont typeface="Arial"/>
              <a:buChar char="•"/>
            </a:pPr>
            <a:r>
              <a:rPr lang="en-US" sz="2000" spc="-4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Identify bottleneck (expected: gateway decryption at N &gt; 50)</a:t>
            </a:r>
          </a:p>
          <a:p>
            <a:pPr marL="361950" lvl="1" indent="-180975" algn="l">
              <a:lnSpc>
                <a:spcPts val="2880"/>
              </a:lnSpc>
              <a:buFont typeface="Arial"/>
              <a:buChar char="•"/>
            </a:pPr>
            <a:r>
              <a:rPr lang="en-US" sz="2000" spc="-4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Propose hierarchical gateway solution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5253" y="9638014"/>
            <a:ext cx="17217495" cy="36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4"/>
              </a:lnSpc>
            </a:pPr>
            <a:r>
              <a:rPr lang="en-US" sz="1725" spc="-36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Slide 11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8477418" y="4312894"/>
            <a:ext cx="654269" cy="2748530"/>
            <a:chOff x="0" y="0"/>
            <a:chExt cx="172318" cy="72389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72318" cy="723893"/>
            </a:xfrm>
            <a:custGeom>
              <a:avLst/>
              <a:gdLst/>
              <a:ahLst/>
              <a:cxnLst/>
              <a:rect l="l" t="t" r="r" b="b"/>
              <a:pathLst>
                <a:path w="172318" h="723893">
                  <a:moveTo>
                    <a:pt x="86159" y="0"/>
                  </a:moveTo>
                  <a:lnTo>
                    <a:pt x="86159" y="0"/>
                  </a:lnTo>
                  <a:cubicBezTo>
                    <a:pt x="133743" y="0"/>
                    <a:pt x="172318" y="38575"/>
                    <a:pt x="172318" y="86159"/>
                  </a:cubicBezTo>
                  <a:lnTo>
                    <a:pt x="172318" y="637734"/>
                  </a:lnTo>
                  <a:cubicBezTo>
                    <a:pt x="172318" y="660585"/>
                    <a:pt x="163240" y="682499"/>
                    <a:pt x="147082" y="698657"/>
                  </a:cubicBezTo>
                  <a:cubicBezTo>
                    <a:pt x="130924" y="714815"/>
                    <a:pt x="109010" y="723893"/>
                    <a:pt x="86159" y="723893"/>
                  </a:cubicBezTo>
                  <a:lnTo>
                    <a:pt x="86159" y="723893"/>
                  </a:lnTo>
                  <a:cubicBezTo>
                    <a:pt x="63308" y="723893"/>
                    <a:pt x="41393" y="714815"/>
                    <a:pt x="25235" y="698657"/>
                  </a:cubicBezTo>
                  <a:cubicBezTo>
                    <a:pt x="9077" y="682499"/>
                    <a:pt x="0" y="660585"/>
                    <a:pt x="0" y="637734"/>
                  </a:cubicBezTo>
                  <a:lnTo>
                    <a:pt x="0" y="86159"/>
                  </a:lnTo>
                  <a:cubicBezTo>
                    <a:pt x="0" y="63308"/>
                    <a:pt x="9077" y="41393"/>
                    <a:pt x="25235" y="25235"/>
                  </a:cubicBezTo>
                  <a:cubicBezTo>
                    <a:pt x="41393" y="9077"/>
                    <a:pt x="63308" y="0"/>
                    <a:pt x="86159" y="0"/>
                  </a:cubicBezTo>
                  <a:close/>
                </a:path>
              </a:pathLst>
            </a:custGeom>
            <a:solidFill>
              <a:srgbClr val="313A7D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66675"/>
              <a:ext cx="172318" cy="79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-2109613" y="541988"/>
            <a:ext cx="13875146" cy="9655921"/>
            <a:chOff x="0" y="0"/>
            <a:chExt cx="3654360" cy="25431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4360" cy="2543123"/>
            </a:xfrm>
            <a:custGeom>
              <a:avLst/>
              <a:gdLst/>
              <a:ahLst/>
              <a:cxnLst/>
              <a:rect l="l" t="t" r="r" b="b"/>
              <a:pathLst>
                <a:path w="3654360" h="2543123">
                  <a:moveTo>
                    <a:pt x="0" y="0"/>
                  </a:moveTo>
                  <a:lnTo>
                    <a:pt x="3654360" y="0"/>
                  </a:lnTo>
                  <a:lnTo>
                    <a:pt x="3654360" y="2543123"/>
                  </a:lnTo>
                  <a:lnTo>
                    <a:pt x="0" y="2543123"/>
                  </a:lnTo>
                  <a:close/>
                </a:path>
              </a:pathLst>
            </a:custGeom>
            <a:solidFill>
              <a:srgbClr val="2E509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3654360" cy="2609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81968" y="316415"/>
            <a:ext cx="20001266" cy="1040007"/>
            <a:chOff x="0" y="0"/>
            <a:chExt cx="5267823" cy="2739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67823" cy="273911"/>
            </a:xfrm>
            <a:custGeom>
              <a:avLst/>
              <a:gdLst/>
              <a:ahLst/>
              <a:cxnLst/>
              <a:rect l="l" t="t" r="r" b="b"/>
              <a:pathLst>
                <a:path w="5267823" h="273911">
                  <a:moveTo>
                    <a:pt x="0" y="0"/>
                  </a:moveTo>
                  <a:lnTo>
                    <a:pt x="5267823" y="0"/>
                  </a:lnTo>
                  <a:lnTo>
                    <a:pt x="5267823" y="273911"/>
                  </a:lnTo>
                  <a:lnTo>
                    <a:pt x="0" y="2739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5267823" cy="340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3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87817" y="453485"/>
            <a:ext cx="16303114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4425" b="1" spc="-133">
                <a:solidFill>
                  <a:srgbClr val="00008B"/>
                </a:solidFill>
                <a:latin typeface="Inter Bold"/>
                <a:ea typeface="Inter Bold"/>
                <a:cs typeface="Inter Bold"/>
                <a:sym typeface="Inter Bold"/>
              </a:rPr>
              <a:t>Conclusion &amp; Key Takeaways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7817" y="1968141"/>
            <a:ext cx="5938481" cy="440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 b="1" spc="-8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KEY FINDINGS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7624" y="3132325"/>
            <a:ext cx="7531750" cy="3994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 spc="-43" dirty="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Security gap is real: Original ASCON-IoT paper transmits key in plaintext </a:t>
            </a:r>
            <a:br>
              <a:rPr lang="en-US" sz="2175" spc="-43" dirty="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US" sz="2175" spc="-43" dirty="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471"/>
              </a:lnSpc>
            </a:pPr>
            <a:r>
              <a:rPr lang="en-US" sz="2175" spc="-43" dirty="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Scalability ceiling exists: </a:t>
            </a:r>
            <a:r>
              <a:rPr lang="en-US" sz="2175" spc="-43" dirty="0" err="1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CupCarbon</a:t>
            </a:r>
            <a:r>
              <a:rPr lang="en-US" sz="2175" spc="-43" dirty="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 reveals gateway bottleneck →</a:t>
            </a:r>
            <a:br>
              <a:rPr lang="en-US" sz="2175" spc="-43" dirty="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US" sz="2175" spc="-43" dirty="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471"/>
              </a:lnSpc>
            </a:pPr>
            <a:r>
              <a:rPr lang="en-US" sz="2175" spc="-45" dirty="0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Lightweight design scales: ASCON remains efficient even at 100-node scale → </a:t>
            </a:r>
          </a:p>
          <a:p>
            <a:pPr algn="l">
              <a:lnSpc>
                <a:spcPts val="3471"/>
              </a:lnSpc>
            </a:pPr>
            <a:endParaRPr lang="en-US" sz="2175" spc="-45" dirty="0">
              <a:solidFill>
                <a:srgbClr val="F5F5F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430502" y="1538449"/>
            <a:ext cx="4613553" cy="87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 b="1" spc="-8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NEXT RESEARCH DIRECTIONS: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0502" y="3369393"/>
            <a:ext cx="5133461" cy="3472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Post-quantum ASCON (Kyber key exchange + ASCON)</a:t>
            </a:r>
          </a:p>
          <a:p>
            <a:pPr algn="l">
              <a:lnSpc>
                <a:spcPts val="3471"/>
              </a:lnSpc>
            </a:pPr>
            <a:endParaRPr lang="en-US" sz="2175" spc="-43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 spc="-4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Broadcast ASCON schemes (1 sender → N recipients)</a:t>
            </a:r>
          </a:p>
          <a:p>
            <a:pPr algn="l">
              <a:lnSpc>
                <a:spcPts val="3471"/>
              </a:lnSpc>
            </a:pPr>
            <a:endParaRPr lang="en-US" sz="2175" spc="-43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93621" lvl="1" indent="-196810" algn="l">
              <a:lnSpc>
                <a:spcPts val="3471"/>
              </a:lnSpc>
              <a:buFont typeface="Arial"/>
              <a:buChar char="•"/>
            </a:pPr>
            <a:r>
              <a:rPr lang="en-US" sz="2175" spc="-4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Heterogeneous network topology (gateways at multiple levels)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5253" y="9535473"/>
            <a:ext cx="17217495" cy="529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2175" spc="-4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92210" y="3421704"/>
            <a:ext cx="16303114" cy="272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72"/>
              </a:lnSpc>
            </a:pPr>
            <a:r>
              <a:rPr lang="en-US" sz="16725" b="1" spc="-502">
                <a:solidFill>
                  <a:srgbClr val="00008B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9149191"/>
            <a:ext cx="16303114" cy="117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2"/>
              </a:lnSpc>
            </a:pPr>
            <a:endParaRPr/>
          </a:p>
          <a:p>
            <a:pPr algn="ctr">
              <a:lnSpc>
                <a:spcPts val="3192"/>
              </a:lnSpc>
            </a:pPr>
            <a:r>
              <a:rPr lang="en-US" sz="2000" spc="-4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Slide 13</a:t>
            </a:r>
          </a:p>
          <a:p>
            <a:pPr algn="ctr">
              <a:lnSpc>
                <a:spcPts val="3192"/>
              </a:lnSpc>
            </a:pPr>
            <a:endParaRPr lang="en-US" sz="2000" spc="-41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1056</Words>
  <Application>Microsoft Office PowerPoint</Application>
  <PresentationFormat>Custom</PresentationFormat>
  <Paragraphs>168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Consolas</vt:lpstr>
      <vt:lpstr>Inter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market projected to reach USD 1.1 trillion by 2025 (McKinsey Global Institute, 2024) 47% of Latin American companies adopted IoT by end 2023 (996M devices in operation) Critical vulnerability: Resource constraints make traditional encryption</dc:title>
  <cp:lastModifiedBy>Thanushree S</cp:lastModifiedBy>
  <cp:revision>3</cp:revision>
  <dcterms:created xsi:type="dcterms:W3CDTF">2006-08-16T00:00:00Z</dcterms:created>
  <dcterms:modified xsi:type="dcterms:W3CDTF">2026-10-21T10:23:14Z</dcterms:modified>
  <dc:identifier>DAHSbtEooS0</dc:identifier>
</cp:coreProperties>
</file>